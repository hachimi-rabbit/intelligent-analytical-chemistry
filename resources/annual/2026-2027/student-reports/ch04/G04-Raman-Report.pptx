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1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charts/chart2.xml" ContentType="application/vnd.openxmlformats-officedocument.drawingml.chart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af13a48fff14ca3" /><Relationship Type="http://schemas.openxmlformats.org/officeDocument/2006/relationships/extended-properties" Target="/docProps/app.xml" Id="R3a3bd340c39a4460" /><Relationship Type="http://schemas.openxmlformats.org/officeDocument/2006/relationships/officeDocument" Target="/ppt/presentation.xml" Id="Rb096ef30d8f8463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f2faac442534bbf"/>
  </p:sldMasterIdLst>
  <p:notesMasterIdLst>
    <p:notesMasterId xmlns:r="http://schemas.openxmlformats.org/officeDocument/2006/relationships" r:id="Rdb472eb0a8c84c57"/>
  </p:notesMasterIdLst>
  <p:sldIdLst>
    <p:sldId xmlns:r="http://schemas.openxmlformats.org/officeDocument/2006/relationships" id="256" r:id="R4492d646581240dc"/>
    <p:sldId xmlns:r="http://schemas.openxmlformats.org/officeDocument/2006/relationships" id="257" r:id="R0b931c7d0f7e4de4"/>
    <p:sldId xmlns:r="http://schemas.openxmlformats.org/officeDocument/2006/relationships" id="258" r:id="Rbd44d53dc6854099"/>
    <p:sldId xmlns:r="http://schemas.openxmlformats.org/officeDocument/2006/relationships" id="259" r:id="Rcb1025bc299e4a63"/>
    <p:sldId xmlns:r="http://schemas.openxmlformats.org/officeDocument/2006/relationships" id="260" r:id="Rdbc67c140afb4eec"/>
    <p:sldId xmlns:r="http://schemas.openxmlformats.org/officeDocument/2006/relationships" id="261" r:id="R21a0b55aeb17495b"/>
    <p:sldId xmlns:r="http://schemas.openxmlformats.org/officeDocument/2006/relationships" id="262" r:id="Rc3ef1709acd642ed"/>
    <p:sldId xmlns:r="http://schemas.openxmlformats.org/officeDocument/2006/relationships" id="263" r:id="R2fb107c3befe436b"/>
    <p:sldId xmlns:r="http://schemas.openxmlformats.org/officeDocument/2006/relationships" id="264" r:id="R92f57fff38fd40d7"/>
    <p:sldId xmlns:r="http://schemas.openxmlformats.org/officeDocument/2006/relationships" id="265" r:id="R686f3940c53f4173"/>
    <p:sldId xmlns:r="http://schemas.openxmlformats.org/officeDocument/2006/relationships" id="266" r:id="Re110d91d44314bd7"/>
    <p:sldId xmlns:r="http://schemas.openxmlformats.org/officeDocument/2006/relationships" id="267" r:id="R08a051c2a11e488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4c8817d8ea749d6" /><Relationship Type="http://schemas.openxmlformats.org/officeDocument/2006/relationships/slideMaster" Target="/ppt/slideMasters/slideMaster1.xml" Id="R4f2faac442534bbf" /><Relationship Type="http://schemas.openxmlformats.org/officeDocument/2006/relationships/notesMaster" Target="/ppt/notesMasters/notesMaster1.xml" Id="Rdb472eb0a8c84c57" /><Relationship Type="http://schemas.openxmlformats.org/officeDocument/2006/relationships/presProps" Target="/ppt/presProps.xml" Id="R54ede56302a14e0f" /><Relationship Type="http://schemas.openxmlformats.org/officeDocument/2006/relationships/tableStyles" Target="/ppt/tableStyles.xml" Id="R6b56460b615d46b1" /><Relationship Type="http://schemas.openxmlformats.org/officeDocument/2006/relationships/slide" Target="/ppt/slides/slide1.xml" Id="R4492d646581240dc" /><Relationship Type="http://schemas.openxmlformats.org/officeDocument/2006/relationships/slide" Target="/ppt/slides/slide2.xml" Id="R0b931c7d0f7e4de4" /><Relationship Type="http://schemas.openxmlformats.org/officeDocument/2006/relationships/slide" Target="/ppt/slides/slide3.xml" Id="Rbd44d53dc6854099" /><Relationship Type="http://schemas.openxmlformats.org/officeDocument/2006/relationships/slide" Target="/ppt/slides/slide4.xml" Id="Rcb1025bc299e4a63" /><Relationship Type="http://schemas.openxmlformats.org/officeDocument/2006/relationships/slide" Target="/ppt/slides/slide5.xml" Id="Rdbc67c140afb4eec" /><Relationship Type="http://schemas.openxmlformats.org/officeDocument/2006/relationships/slide" Target="/ppt/slides/slide6.xml" Id="R21a0b55aeb17495b" /><Relationship Type="http://schemas.openxmlformats.org/officeDocument/2006/relationships/slide" Target="/ppt/slides/slide7.xml" Id="Rc3ef1709acd642ed" /><Relationship Type="http://schemas.openxmlformats.org/officeDocument/2006/relationships/slide" Target="/ppt/slides/slide8.xml" Id="R2fb107c3befe436b" /><Relationship Type="http://schemas.openxmlformats.org/officeDocument/2006/relationships/slide" Target="/ppt/slides/slide9.xml" Id="R92f57fff38fd40d7" /><Relationship Type="http://schemas.openxmlformats.org/officeDocument/2006/relationships/slide" Target="/ppt/slides/slide10.xml" Id="R686f3940c53f4173" /><Relationship Type="http://schemas.openxmlformats.org/officeDocument/2006/relationships/slide" Target="/ppt/slides/slide11.xml" Id="Re110d91d44314bd7" /><Relationship Type="http://schemas.openxmlformats.org/officeDocument/2006/relationships/slide" Target="/ppt/slides/slide12.xml" Id="R08a051c2a11e488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cea43f26d5d4de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68f9d7eba1e486f" /><Relationship Type="http://schemas.openxmlformats.org/officeDocument/2006/relationships/notesMaster" Target="/ppt/notesMasters/notesMaster1.xml" Id="R5a0cc81391a144a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0815665e9b0454d" /><Relationship Type="http://schemas.openxmlformats.org/officeDocument/2006/relationships/notesMaster" Target="/ppt/notesMasters/notesMaster1.xml" Id="R5378c2b2cee74b8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3c000792e274446" /><Relationship Type="http://schemas.openxmlformats.org/officeDocument/2006/relationships/notesMaster" Target="/ppt/notesMasters/notesMaster1.xml" Id="R1c12d7e29eda45e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8b8883c6232478a" /><Relationship Type="http://schemas.openxmlformats.org/officeDocument/2006/relationships/notesMaster" Target="/ppt/notesMasters/notesMaster1.xml" Id="R4cc4b375114e47a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216c7b6fd754a7f" /><Relationship Type="http://schemas.openxmlformats.org/officeDocument/2006/relationships/notesMaster" Target="/ppt/notesMasters/notesMaster1.xml" Id="Re56c66fdaf9c431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cb4002ef2ba4084" /><Relationship Type="http://schemas.openxmlformats.org/officeDocument/2006/relationships/notesMaster" Target="/ppt/notesMasters/notesMaster1.xml" Id="R091702cd973b4b8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38a773bbc6646c1" /><Relationship Type="http://schemas.openxmlformats.org/officeDocument/2006/relationships/notesMaster" Target="/ppt/notesMasters/notesMaster1.xml" Id="R03dc4f93e1bf416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2eaca54d5c849c2" /><Relationship Type="http://schemas.openxmlformats.org/officeDocument/2006/relationships/notesMaster" Target="/ppt/notesMasters/notesMaster1.xml" Id="R7c2c90e787f047e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667291c7a0f44d9" /><Relationship Type="http://schemas.openxmlformats.org/officeDocument/2006/relationships/notesMaster" Target="/ppt/notesMasters/notesMaster1.xml" Id="R655ae1fd56c8484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b62fef93b3547ee" /><Relationship Type="http://schemas.openxmlformats.org/officeDocument/2006/relationships/notesMaster" Target="/ppt/notesMasters/notesMaster1.xml" Id="R3f015fab2d074f1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1e087c4df62644c2" /><Relationship Type="http://schemas.openxmlformats.org/officeDocument/2006/relationships/notesMaster" Target="/ppt/notesMasters/notesMaster1.xml" Id="R97c70a8383f94cf8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db9007b430234402" /><Relationship Type="http://schemas.openxmlformats.org/officeDocument/2006/relationships/notesMaster" Target="/ppt/notesMasters/notesMaster1.xml" Id="Rf32169d207214d8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建议汇报总时长12分钟。本报告是第4章的案例讲解，不代表实测矿物鉴定。学生汇报稿，尚未经教师审核。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重点不是比较热门模型排名，而是把表达能力、化学假设与验证成本联系起来。基础来源：Hastie et al., The Elements of Statistical Learning, DOI:10.1007/978-0-387-84858-7。详细推导见docs/ch04.md。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数据来源：exercise.py，固定种子2026，outputs/simulation_config.json、metadata.csv。90×2×3=540。独立统计对象是物理标本。601个波数变量。开发B谱保留在数据中但不参与分析。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按标本分组StratifiedGroupKFold四折。Scaler、PCA在训练折内拟合。候选固定为Dummy、1NN、PCA_LR、RBF_SVC。CV分数参与选模，最终性能看未见标本。大量调参时使用嵌套分组CV。来源：Cawley &amp; Talbot, JMLR 2010, https://www.jmlr.org/papers/v11/cawley10a.html 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来源：outputs/model_comparison.csv；汇总72个标本的四折折外预测，宏F1。逐谱随机只作为反例。其事后投票不能消除训练阶段已经存在的身份信息。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来源：extensions.py、outputs/permutation_scores.csv。固定随机源20261023，199次均衡标本级标签置换，1NN；同一标本三条扫描共享随机标签。分位数仅描述此置换过程，不是矿物识别置信区间，也没有计算正式显著性p值。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来源：outputs/holdout_sample_predictions.csv、metrics.json。通过开发分组CV选择RBF-SVC，冻结后在同一18个标本的A/B谱上预测。A/B并非36个独立标本。此种子2026结果已被查看，仅作为历史教学基准。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来源：extensions.py，outputs/preprocessing_panel.csv。五个固定种子1101—1105，全部候选与结果均报告。处理为arPLS(lambda=1e5,max_iter=30,tol=1e-3)与L2归一化，再SVC(C=10,gamma=scale)。原始流程含变量标准化。方法：Baek et al., Analyst 2015, DOI:10.1039/C4AN01061B。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来源：03_probability_calibration.py、outputs/calibration.json；独立二分类模拟2400个样本，与拉曼数据分开。拟合1440、校准480、阈值验证240、测试240。阈值在验证集上按FN/FP代价选择，冻结后测试。Guo et al., ICML2017 https://proceedings.mlr.press/v70/guo17a.html 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REFORMS: Kapoor et al., Science Advances 2024, DOI:10.1126/sciadv.adk3452。Lilek et al., Journal of Raman Spectroscopy 2025, DOI:10.1002/jrs.6842。TabPFN: Hollmann et al., Nature 2025, DOI:10.1038/s41586-024-08328-6。正式来源和完整作者见年度引文。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离线页面assets/interactive/ch04.html保留相邻CSS/JS即可使用；展示真实Python预计算结果，不在浏览器训练。四道传承题含评分要点，见resources/annual/2026-2027/questions/README.md#ch04。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完整交付见docs/ch04.md、code/ch04_exercises/raman/README.md。工作Issue：https://github.com/Oaham725/intelligent-analytical-chemistry/issues/2 。实验数据全部为模拟。真实配对验证需独立标本、仪器元数据、固定流程与新留出集，不应使用历史测试结果反复优化。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0b50d4f3f3e4c1e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4c28c5fc0124c12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9c92d319ce740b8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74bdaf62add47a1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985817825c74f86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8991af025c3400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5D4E5192-D23B-4781-A193-A71FEC9A7C6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5B5A02C7-5144-4672-B344-E098F24350F7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F9223685-9EE5-487F-8701-383948D8B7A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B3DAA71-159D-4AFC-91A3-ACBE608C8F6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902D2D58-1C6F-4F41-B059-F54290B520C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35BB3482-03E6-432D-9182-8A7F449A91F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E9068C67-AEEE-4594-8C44-1571551FE9D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767BDA81-0116-4A94-ABC9-EA14A60A471C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CB0AB6E-2BF1-49EE-9D81-EFF97948CCC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76A50EAB-3AC2-4D85-B53F-CFC58FBAD94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ebb22bfcdc34532" /><Relationship Type="http://schemas.openxmlformats.org/officeDocument/2006/relationships/slideLayout" Target="/ppt/slideLayouts/slideLayout1.xml" Id="R9806ef2d79ae45b7" /><Relationship Type="http://schemas.openxmlformats.org/officeDocument/2006/relationships/slideLayout" Target="/ppt/slideLayouts/slideLayout2.xml" Id="R6d7ed9cd93e440f4" /><Relationship Type="http://schemas.openxmlformats.org/officeDocument/2006/relationships/slideLayout" Target="/ppt/slideLayouts/slideLayout3.xml" Id="R9e45afa496604af6" /><Relationship Type="http://schemas.openxmlformats.org/officeDocument/2006/relationships/slideLayout" Target="/ppt/slideLayouts/slideLayout4.xml" Id="R20c157cac3c3457e" /><Relationship Type="http://schemas.openxmlformats.org/officeDocument/2006/relationships/slideLayout" Target="/ppt/slideLayouts/slideLayout5.xml" Id="Rff46cb855c564abd" /><Relationship Type="http://schemas.openxmlformats.org/officeDocument/2006/relationships/slideLayout" Target="/ppt/slideLayouts/slideLayout6.xml" Id="Re8b28d4e97d4436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806ef2d79ae45b7"/>
    <p:sldLayoutId xmlns:r="http://schemas.openxmlformats.org/officeDocument/2006/relationships" id="2147483650" r:id="R6d7ed9cd93e440f4"/>
    <p:sldLayoutId xmlns:r="http://schemas.openxmlformats.org/officeDocument/2006/relationships" id="2147483651" r:id="R9e45afa496604af6"/>
    <p:sldLayoutId xmlns:r="http://schemas.openxmlformats.org/officeDocument/2006/relationships" id="2147483652" r:id="R20c157cac3c3457e"/>
    <p:sldLayoutId xmlns:r="http://schemas.openxmlformats.org/officeDocument/2006/relationships" id="2147483653" r:id="Rff46cb855c564abd"/>
    <p:sldLayoutId xmlns:r="http://schemas.openxmlformats.org/officeDocument/2006/relationships" id="2147483654" r:id="Re8b28d4e97d4436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4784a35aaff45e1" /><Relationship Type="http://schemas.openxmlformats.org/officeDocument/2006/relationships/notesSlide" Target="/ppt/notesSlides/notesSlide1.xml" Id="Raeae2eaf0cbc47d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ae7730621324a07" /><Relationship Type="http://schemas.openxmlformats.org/officeDocument/2006/relationships/notesSlide" Target="/ppt/notesSlides/notesSlide2.xml" Id="Rc21af6ef5f614c8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025d13d5021498f" /><Relationship Type="http://schemas.openxmlformats.org/officeDocument/2006/relationships/notesSlide" Target="/ppt/notesSlides/notesSlide3.xml" Id="R4d58bfee8941473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f2978d5d0e74516" /><Relationship Type="http://schemas.openxmlformats.org/officeDocument/2006/relationships/notesSlide" Target="/ppt/notesSlides/notesSlide4.xml" Id="R3a41a075793f44b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43f28c3c34c477f" /><Relationship Type="http://schemas.openxmlformats.org/officeDocument/2006/relationships/chart" Target="/ppt/slides/charts/chart1.xml" Id="R9f20b0970d5d4b2c" /><Relationship Type="http://schemas.openxmlformats.org/officeDocument/2006/relationships/notesSlide" Target="/ppt/notesSlides/notesSlide5.xml" Id="R27d80e29270142e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1b9e4ef43564a24" /><Relationship Type="http://schemas.openxmlformats.org/officeDocument/2006/relationships/notesSlide" Target="/ppt/notesSlides/notesSlide6.xml" Id="R202bbf6e9c22450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3aece5d53794131" /><Relationship Type="http://schemas.openxmlformats.org/officeDocument/2006/relationships/chart" Target="/ppt/slides/charts/chart2.xml" Id="Rc5503df942584693" /><Relationship Type="http://schemas.openxmlformats.org/officeDocument/2006/relationships/notesSlide" Target="/ppt/notesSlides/notesSlide7.xml" Id="R8698d9d6cd7e4e9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fa721eb3d614404" /><Relationship Type="http://schemas.openxmlformats.org/officeDocument/2006/relationships/notesSlide" Target="/ppt/notesSlides/notesSlide8.xml" Id="R75b2712d67e5412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412b511a801425c" /><Relationship Type="http://schemas.openxmlformats.org/officeDocument/2006/relationships/notesSlide" Target="/ppt/notesSlides/notesSlide9.xml" Id="Rc240daf6cec64f6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b8506e160454718" /><Relationship Type="http://schemas.openxmlformats.org/officeDocument/2006/relationships/notesSlide" Target="/ppt/notesSlides/notesSlide10.xml" Id="R676a4f294c004790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952e3f170604a4e" /><Relationship Type="http://schemas.openxmlformats.org/officeDocument/2006/relationships/notesSlide" Target="/ppt/notesSlides/notesSlide11.xml" Id="R968b67f36960438b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3d73f78189b432c" /><Relationship Type="http://schemas.openxmlformats.org/officeDocument/2006/relationships/notesSlide" Target="/ppt/notesSlides/notesSlide12.xml" Id="R21db89fc7a044d4e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80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rPr>
              <a:t>标本级宏F1 · 种子2026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800">
              <a:solidFill>
                <a:srgbClr val="15344C"/>
              </a:solidFill>
              <a:latin typeface="Noto Sans CJK SC"/>
              <a:ea typeface="Noto Sans CJK SC"/>
              <a:cs typeface="Noto Sans CJK SC"/>
            </a:defRPr>
          </a:pPr>
        </a:p>
      </c:txPr>
    </c:title>
    <c:plotArea>
      <c:barChart>
        <c:barDir val="col"/>
        <c:grouping val="clustered"/>
        <c:varyColors val="0"/>
        <c:ser>
          <c:idx val="0"/>
          <c:order val="0"/>
          <c:tx>
            <c:v>逐谱随机</c:v>
          </c:tx>
          <c:spPr>
            <a:solidFill xmlns:a="http://schemas.openxmlformats.org/drawingml/2006/main">
              <a:srgbClr val="A5B8C6"/>
            </a:solidFill>
          </c:spPr>
          <c:invertIfNegative val="0"/>
          <c:cat>
            <c:strRef>
              <c:f>'Chart Data'!$A$2:$A$5</c:f>
              <c:strCache>
                <c:ptCount val="4"/>
                <c:pt idx="0">
                  <c:v>Dummy</c:v>
                </c:pt>
                <c:pt idx="1">
                  <c:v>1NN</c:v>
                </c:pt>
                <c:pt idx="2">
                  <c:v>PCA + LR</c:v>
                </c:pt>
                <c:pt idx="3">
                  <c:v>RBF-SVC</c:v>
                </c:pt>
              </c:strCache>
            </c:strRef>
          </c:cat>
          <c:val>
            <c:numRef>
              <c:f>'Chart Data'!$B$2:$B$5</c:f>
              <c:numCache>
                <c:formatCode>0.0</c:formatCode>
                <c:ptCount val="4"/>
                <c:pt idx="0">
                  <c:v>0.1667</c:v>
                </c:pt>
                <c:pt idx="1">
                  <c:v>0.9861</c:v>
                </c:pt>
                <c:pt idx="2">
                  <c:v>0.8472</c:v>
                </c:pt>
                <c:pt idx="3">
                  <c:v>1</c:v>
                </c:pt>
              </c:numCache>
            </c:numRef>
          </c:val>
        </c:ser>
        <c:ser>
          <c:idx val="1"/>
          <c:order val="1"/>
          <c:tx>
            <c:v>按标本分组</c:v>
          </c:tx>
          <c:spPr>
            <a:solidFill xmlns:a="http://schemas.openxmlformats.org/drawingml/2006/main">
              <a:srgbClr val="326A91"/>
            </a:solidFill>
          </c:spPr>
          <c:invertIfNegative val="0"/>
          <c:cat>
            <c:strRef>
              <c:f>'Chart Data'!$C$2:$C$5</c:f>
              <c:strCache>
                <c:ptCount val="4"/>
                <c:pt idx="0">
                  <c:v>Dummy</c:v>
                </c:pt>
                <c:pt idx="1">
                  <c:v>1NN</c:v>
                </c:pt>
                <c:pt idx="2">
                  <c:v>PCA + LR</c:v>
                </c:pt>
                <c:pt idx="3">
                  <c:v>RBF-SVC</c:v>
                </c:pt>
              </c:strCache>
            </c:strRef>
          </c:cat>
          <c:val>
            <c:numRef>
              <c:f>'Chart Data'!$D$2:$D$5</c:f>
              <c:numCache>
                <c:formatCode>0.0</c:formatCode>
                <c:ptCount val="4"/>
                <c:pt idx="0">
                  <c:v>0.1667</c:v>
                </c:pt>
                <c:pt idx="1">
                  <c:v>0.5537</c:v>
                </c:pt>
                <c:pt idx="2">
                  <c:v>0.7352</c:v>
                </c:pt>
                <c:pt idx="3">
                  <c:v>0.8473</c:v>
                </c:pt>
              </c:numCache>
            </c:numRef>
          </c:val>
        </c:ser>
        <c:dLbls>
          <c:numFmt formatCode="0.000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575">
                  <a:latin typeface="Noto Sans CJK SC"/>
                  <a:ea typeface="Noto Sans CJK SC"/>
                  <a:cs typeface="Noto Sans CJK SC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1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</c:catAx>
      <c:valAx>
        <c:axId val="48672768"/>
        <c:scaling>
          <c:orientation val="minMax"/>
          <c:max val="1.05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CE4E9"/>
              </a:solidFill>
              <a:prstDash val="solid"/>
            </a:ln>
          </c:spPr>
        </c:majorGridlines>
        <c:numFmt formatCode="0.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crossBetween val="between"/>
        <c:majorUnit val="0.2"/>
      </c:valAx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650">
              <a:latin typeface="Noto Sans CJK SC"/>
              <a:ea typeface="Noto Sans CJK SC"/>
              <a:cs typeface="Noto Sans CJK SC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  <a:ln xmlns:a="http://schemas.openxmlformats.org/drawingml/2006/main" w="0">
      <a:noFill/>
      <a:prstDash val="solid"/>
    </a:ln>
  </c:spPr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80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rPr>
              <a:t>18个配对留出标本 · 宏F1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800">
              <a:solidFill>
                <a:srgbClr val="15344C"/>
              </a:solidFill>
              <a:latin typeface="Noto Sans CJK SC"/>
              <a:ea typeface="Noto Sans CJK SC"/>
              <a:cs typeface="Noto Sans CJK SC"/>
            </a:defRPr>
          </a:pPr>
        </a:p>
      </c:txPr>
    </c:title>
    <c:plotArea>
      <c:barChart>
        <c:barDir val="col"/>
        <c:grouping val="clustered"/>
        <c:varyColors val="0"/>
        <c:ser>
          <c:idx val="0"/>
          <c:order val="0"/>
          <c:tx>
            <c:v>冻结的RBF-SVC</c:v>
          </c:tx>
          <c:spPr>
            <a:solidFill xmlns:a="http://schemas.openxmlformats.org/drawingml/2006/main">
              <a:srgbClr val="326A91"/>
            </a:solidFill>
          </c:spPr>
          <c:invertIfNegative val="0"/>
          <c:cat>
            <c:strRef>
              <c:f>'Chart Data'!$A$2:$A$3</c:f>
              <c:strCache>
                <c:ptCount val="2"/>
                <c:pt idx="0">
                  <c:v>A：同仪器新标本</c:v>
                </c:pt>
                <c:pt idx="1">
                  <c:v>B：换仪器，同批标本</c:v>
                </c:pt>
              </c:strCache>
            </c:strRef>
          </c:cat>
          <c:val>
            <c:numRef>
              <c:f>'Chart Data'!$B$2:$B$3</c:f>
              <c:numCache>
                <c:formatCode>0.0</c:formatCode>
                <c:ptCount val="2"/>
                <c:pt idx="0">
                  <c:v>0.8364</c:v>
                </c:pt>
                <c:pt idx="1">
                  <c:v>0.2081</c:v>
                </c:pt>
              </c:numCache>
            </c:numRef>
          </c:val>
        </c:ser>
        <c:dLbls>
          <c:numFmt formatCode="0.000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575">
                  <a:latin typeface="Noto Sans CJK SC"/>
                  <a:ea typeface="Noto Sans CJK SC"/>
                  <a:cs typeface="Noto Sans CJK SC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1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</c:catAx>
      <c:valAx>
        <c:axId val="48672768"/>
        <c:scaling>
          <c:orientation val="minMax"/>
          <c:max val="1.05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CE4E9"/>
              </a:solidFill>
              <a:prstDash val="solid"/>
            </a:ln>
          </c:spPr>
        </c:majorGridlines>
        <c:numFmt formatCode="0.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crossBetween val="between"/>
        <c:majorUnit val="0.2"/>
      </c:valAx>
    </c:plotArea>
    <c:plotVisOnly val="1"/>
  </c:chart>
  <c:spPr>
    <a:solidFill xmlns:a="http://schemas.openxmlformats.org/drawingml/2006/main">
      <a:srgbClr val="FFFFFF"/>
    </a:solidFill>
    <a:ln xmlns:a="http://schemas.openxmlformats.org/drawingml/2006/main" w="0">
      <a:noFill/>
      <a:prstDash val="solid"/>
    </a:ln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E4F0375-DB1B-435F-9D47-AED997B32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rPr>
              <a:t>拉曼矿物识别中的泛化验证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1AE761-A171-4EFE-80EE-331BE3209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001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rPr>
              <a:t>G04 · 第4章机器学习 · 教学模拟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A107C26-1718-4EF1-825A-B504D8C39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rPr>
              <a:t>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2EDAB8-FAD4-40F5-826B-FE77A6A5C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10763250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9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defRPr sz="39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defRPr sz="39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defRPr sz="39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defRPr sz="39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defRPr sz="39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defRPr sz="39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defRPr sz="39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defRPr sz="39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defRPr sz="39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defRPr sz="39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9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rPr>
              <a:t>模型学到的是矿物特征，</a:t>
            </a:r>
          </a:p>
          <a:p xmlns:a="http://schemas.openxmlformats.org/drawingml/2006/main">
            <a:pPr>
              <a:defRPr sz="39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9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rPr>
              <a:t>还是重复扫描留下的标本身份？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1984E59-6320-4540-B26D-C5587C1CA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305300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0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defRPr sz="2325" b="0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defRPr sz="2325" b="0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defRPr sz="2325" b="0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defRPr sz="2325" b="0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defRPr sz="2325" b="0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defRPr sz="2325" b="0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defRPr sz="2325" b="0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defRPr sz="2325" b="0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defRPr sz="2325" b="0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defRPr sz="2325" b="0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0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rPr>
              <a:t>方案一 · 可复现的三类光谱教学实验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CF5950A-5634-46AF-84EA-0522C8200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048250"/>
            <a:ext cx="1047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defRPr sz="2025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defRPr sz="2025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defRPr sz="2025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defRPr sz="2025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defRPr sz="2025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defRPr sz="2025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defRPr sz="2025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defRPr sz="2025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defRPr sz="2025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rPr>
              <a:t>石英 / 方解石 / 石膏　｜　全部数据为模拟</a:t>
            </a:r>
          </a:p>
        </p:txBody>
      </p:sp>
    </p:spTree>
    <p:extLst>
      <p:ext uri="{BB962C8B-B14F-4D97-AF65-F5344CB8AC3E}">
        <p14:creationId xmlns:p14="http://schemas.microsoft.com/office/powerpoint/2010/main" val="59062781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12AC7F2-DEBB-4F21-A2AD-506B7DDC3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rPr>
              <a:t>本专题覆盖整章机器学习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5D37E18-7317-4CD2-AD7B-AA699A99A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001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rPr>
              <a:t>G04 · 第4章机器学习 · 教学模拟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C33F77C-866C-4376-8BF4-9B55F658B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rPr>
              <a:t>2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F7DDA8-3572-482A-B7D3-30E1BDDBBC66}"/>
              </a:ext>
            </a:extLst>
          </p:cNvPr>
          <p:cNvGraphicFramePr/>
          <p:nvPr/>
        </p:nvGraphicFramePr>
        <p:xfrm>
          <a:off xmlns:a="http://schemas.openxmlformats.org/drawingml/2006/main" x="609600" y="1476375"/>
          <a:ext xmlns:a="http://schemas.openxmlformats.org/drawingml/2006/main" cx="10972800" cy="3333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952750"/>
                <a:gridCol w="3619500"/>
                <a:gridCol w="4400550"/>
              </a:tblGrid>
              <a:tr h="833438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模型族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CD6DE"/>
                      </a:solidFill>
                      <a:prstDash val="solid"/>
                    </a:lnL>
                    <a:lnR w="9525">
                      <a:solidFill>
                        <a:srgbClr val="CCD6DE"/>
                      </a:solidFill>
                      <a:prstDash val="solid"/>
                    </a:lnR>
                    <a:lnT w="9525">
                      <a:solidFill>
                        <a:srgbClr val="CCD6DE"/>
                      </a:solidFill>
                      <a:prstDash val="solid"/>
                    </a:lnT>
                    <a:lnB w="9525">
                      <a:solidFill>
                        <a:srgbClr val="CCD6DE"/>
                      </a:solidFill>
                      <a:prstDash val="solid"/>
                    </a:lnB>
                    <a:solidFill>
                      <a:srgbClr val="15344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能增加什么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CD6DE"/>
                      </a:solidFill>
                      <a:prstDash val="solid"/>
                    </a:lnR>
                    <a:lnT w="9525">
                      <a:solidFill>
                        <a:srgbClr val="CCD6DE"/>
                      </a:solidFill>
                      <a:prstDash val="solid"/>
                    </a:lnT>
                    <a:lnB w="9525">
                      <a:solidFill>
                        <a:srgbClr val="CCD6DE"/>
                      </a:solidFill>
                      <a:prstDash val="solid"/>
                    </a:lnB>
                    <a:solidFill>
                      <a:srgbClr val="15344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需要检查什么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CD6DE"/>
                      </a:solidFill>
                      <a:prstDash val="solid"/>
                    </a:lnR>
                    <a:lnT w="9525">
                      <a:solidFill>
                        <a:srgbClr val="CCD6DE"/>
                      </a:solidFill>
                      <a:prstDash val="solid"/>
                    </a:lnT>
                    <a:lnB w="9525">
                      <a:solidFill>
                        <a:srgbClr val="CCD6DE"/>
                      </a:solidFill>
                      <a:prstDash val="solid"/>
                    </a:lnB>
                    <a:solidFill>
                      <a:srgbClr val="15344C"/>
                    </a:solidFill>
                  </a:tcPr>
                </a:tc>
              </a:tr>
              <a:tr h="833438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5344C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PLS / Ridge / Elastic Net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CD6DE"/>
                      </a:solidFill>
                      <a:prstDash val="solid"/>
                    </a:lnL>
                    <a:lnR w="9525">
                      <a:solidFill>
                        <a:srgbClr val="CCD6DE"/>
                      </a:solidFill>
                      <a:prstDash val="solid"/>
                    </a:lnR>
                    <a:lnB w="9525">
                      <a:solidFill>
                        <a:srgbClr val="CCD6DE"/>
                      </a:solidFill>
                      <a:prstDash val="soli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5344C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低维线性关系与系数收缩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CD6DE"/>
                      </a:solidFill>
                      <a:prstDash val="solid"/>
                    </a:lnR>
                    <a:lnB w="9525">
                      <a:solidFill>
                        <a:srgbClr val="CCD6DE"/>
                      </a:solidFill>
                      <a:prstDash val="soli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5344C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共线性、变量尺度、选择稳定性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CD6DE"/>
                      </a:solidFill>
                      <a:prstDash val="solid"/>
                    </a:lnR>
                    <a:lnB w="9525">
                      <a:solidFill>
                        <a:srgbClr val="CCD6DE"/>
                      </a:solidFill>
                      <a:prstDash val="solid"/>
                    </a:lnB>
                    <a:solidFill>
                      <a:srgbClr val="F1F5F7"/>
                    </a:solidFill>
                  </a:tcPr>
                </a:tc>
              </a:tr>
              <a:tr h="833438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5344C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SVM / SVR / 高斯过程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CD6DE"/>
                      </a:solidFill>
                      <a:prstDash val="solid"/>
                    </a:lnL>
                    <a:lnR w="9525">
                      <a:solidFill>
                        <a:srgbClr val="CCD6DE"/>
                      </a:solidFill>
                      <a:prstDash val="solid"/>
                    </a:lnR>
                    <a:lnB w="9525">
                      <a:solidFill>
                        <a:srgbClr val="CCD6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5344C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核映射与局部非线性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CD6DE"/>
                      </a:solidFill>
                      <a:prstDash val="solid"/>
                    </a:lnR>
                    <a:lnB w="9525">
                      <a:solidFill>
                        <a:srgbClr val="CCD6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5344C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C、γ、核假设与小样本方差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CD6DE"/>
                      </a:solidFill>
                      <a:prstDash val="solid"/>
                    </a:lnR>
                    <a:lnB w="9525">
                      <a:solidFill>
                        <a:srgbClr val="CCD6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33438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5344C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随机森林 / 梯度提升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CD6DE"/>
                      </a:solidFill>
                      <a:prstDash val="solid"/>
                    </a:lnL>
                    <a:lnR w="9525">
                      <a:solidFill>
                        <a:srgbClr val="CCD6DE"/>
                      </a:solidFill>
                      <a:prstDash val="solid"/>
                    </a:lnR>
                    <a:lnB w="9525">
                      <a:solidFill>
                        <a:srgbClr val="CCD6DE"/>
                      </a:solidFill>
                      <a:prstDash val="soli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5344C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非线性交互与分段关系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CD6DE"/>
                      </a:solidFill>
                      <a:prstDash val="solid"/>
                    </a:lnR>
                    <a:lnB w="9525">
                      <a:solidFill>
                        <a:srgbClr val="CCD6DE"/>
                      </a:solidFill>
                      <a:prstDash val="soli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5344C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早停、分组验证与重要性偏差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CD6DE"/>
                      </a:solidFill>
                      <a:prstDash val="solid"/>
                    </a:lnR>
                    <a:lnB w="9525">
                      <a:solidFill>
                        <a:srgbClr val="CCD6DE"/>
                      </a:solidFill>
                      <a:prstDash val="solid"/>
                    </a:lnB>
                    <a:solidFill>
                      <a:srgbClr val="F1F5F7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327432-412C-448A-91C0-491AFF2DA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257800"/>
            <a:ext cx="10668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defRPr sz="217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defRPr sz="217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defRPr sz="217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defRPr sz="217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defRPr sz="217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defRPr sz="217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defRPr sz="217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defRPr sz="217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defRPr sz="217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rPr>
              <a:t>统一评价框架：任务定义 → 验证边界 → 指标、概率与解释</a:t>
            </a:r>
          </a:p>
        </p:txBody>
      </p:sp>
    </p:spTree>
    <p:extLst>
      <p:ext uri="{BB962C8B-B14F-4D97-AF65-F5344CB8AC3E}">
        <p14:creationId xmlns:p14="http://schemas.microsoft.com/office/powerpoint/2010/main" val="87496572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FB7CD56-0251-462D-B0DF-092FF622E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rPr>
              <a:t>90个标本，540条模拟谱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0FB44FC-03F2-4F26-B03B-1CE12A993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001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rPr>
              <a:t>G04 · 第4章机器学习 · 教学模拟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4E24051-E13F-4447-B0F5-E18F102C2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rPr>
              <a:t>3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BF1D919-000D-40C3-9630-D06DA0C57E64}"/>
              </a:ext>
            </a:extLst>
          </p:cNvPr>
          <p:cNvGraphicFramePr/>
          <p:nvPr/>
        </p:nvGraphicFramePr>
        <p:xfrm>
          <a:off xmlns:a="http://schemas.openxmlformats.org/drawingml/2006/main" x="609600" y="1428750"/>
          <a:ext xmlns:a="http://schemas.openxmlformats.org/drawingml/2006/main" cx="10972800" cy="3333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333750"/>
                <a:gridCol w="3143250"/>
                <a:gridCol w="4495800"/>
              </a:tblGrid>
              <a:tr h="833438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用途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CD6DE"/>
                      </a:solidFill>
                      <a:prstDash val="solid"/>
                    </a:lnL>
                    <a:lnR w="9525">
                      <a:solidFill>
                        <a:srgbClr val="CCD6DE"/>
                      </a:solidFill>
                      <a:prstDash val="solid"/>
                    </a:lnR>
                    <a:lnT w="9525">
                      <a:solidFill>
                        <a:srgbClr val="CCD6DE"/>
                      </a:solidFill>
                      <a:prstDash val="solid"/>
                    </a:lnT>
                    <a:lnB w="9525">
                      <a:solidFill>
                        <a:srgbClr val="CCD6DE"/>
                      </a:solidFill>
                      <a:prstDash val="solid"/>
                    </a:lnB>
                    <a:solidFill>
                      <a:srgbClr val="15344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物理标本数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CD6DE"/>
                      </a:solidFill>
                      <a:prstDash val="solid"/>
                    </a:lnR>
                    <a:lnT w="9525">
                      <a:solidFill>
                        <a:srgbClr val="CCD6DE"/>
                      </a:solidFill>
                      <a:prstDash val="solid"/>
                    </a:lnT>
                    <a:lnB w="9525">
                      <a:solidFill>
                        <a:srgbClr val="CCD6DE"/>
                      </a:solidFill>
                      <a:prstDash val="solid"/>
                    </a:lnB>
                    <a:solidFill>
                      <a:srgbClr val="15344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仪器与扫描数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CD6DE"/>
                      </a:solidFill>
                      <a:prstDash val="solid"/>
                    </a:lnR>
                    <a:lnT w="9525">
                      <a:solidFill>
                        <a:srgbClr val="CCD6DE"/>
                      </a:solidFill>
                      <a:prstDash val="solid"/>
                    </a:lnT>
                    <a:lnB w="9525">
                      <a:solidFill>
                        <a:srgbClr val="CCD6DE"/>
                      </a:solidFill>
                      <a:prstDash val="solid"/>
                    </a:lnB>
                    <a:solidFill>
                      <a:srgbClr val="15344C"/>
                    </a:solidFill>
                  </a:tcPr>
                </a:tc>
              </a:tr>
              <a:tr h="833438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5344C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开发与交叉验证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CD6DE"/>
                      </a:solidFill>
                      <a:prstDash val="solid"/>
                    </a:lnL>
                    <a:lnR w="9525">
                      <a:solidFill>
                        <a:srgbClr val="CCD6DE"/>
                      </a:solidFill>
                      <a:prstDash val="solid"/>
                    </a:lnR>
                    <a:lnB w="9525">
                      <a:solidFill>
                        <a:srgbClr val="CCD6DE"/>
                      </a:solidFill>
                      <a:prstDash val="soli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5344C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72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CD6DE"/>
                      </a:solidFill>
                      <a:prstDash val="solid"/>
                    </a:lnR>
                    <a:lnB w="9525">
                      <a:solidFill>
                        <a:srgbClr val="CCD6DE"/>
                      </a:solidFill>
                      <a:prstDash val="soli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5344C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仅A：216条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CD6DE"/>
                      </a:solidFill>
                      <a:prstDash val="solid"/>
                    </a:lnR>
                    <a:lnB w="9525">
                      <a:solidFill>
                        <a:srgbClr val="CCD6DE"/>
                      </a:solidFill>
                      <a:prstDash val="solid"/>
                    </a:lnB>
                    <a:solidFill>
                      <a:srgbClr val="F1F5F7"/>
                    </a:solidFill>
                  </a:tcPr>
                </a:tc>
              </a:tr>
              <a:tr h="833438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5344C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最终配对留出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CD6DE"/>
                      </a:solidFill>
                      <a:prstDash val="solid"/>
                    </a:lnL>
                    <a:lnR w="9525">
                      <a:solidFill>
                        <a:srgbClr val="CCD6DE"/>
                      </a:solidFill>
                      <a:prstDash val="solid"/>
                    </a:lnR>
                    <a:lnB w="9525">
                      <a:solidFill>
                        <a:srgbClr val="CCD6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5344C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18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CD6DE"/>
                      </a:solidFill>
                      <a:prstDash val="solid"/>
                    </a:lnR>
                    <a:lnB w="9525">
                      <a:solidFill>
                        <a:srgbClr val="CCD6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5344C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A：54条；B：54条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CD6DE"/>
                      </a:solidFill>
                      <a:prstDash val="solid"/>
                    </a:lnR>
                    <a:lnB w="9525">
                      <a:solidFill>
                        <a:srgbClr val="CCD6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33438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5344C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未使用的开发B谱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CD6DE"/>
                      </a:solidFill>
                      <a:prstDash val="solid"/>
                    </a:lnL>
                    <a:lnR w="9525">
                      <a:solidFill>
                        <a:srgbClr val="CCD6DE"/>
                      </a:solidFill>
                      <a:prstDash val="solid"/>
                    </a:lnR>
                    <a:lnB w="9525">
                      <a:solidFill>
                        <a:srgbClr val="CCD6DE"/>
                      </a:solidFill>
                      <a:prstDash val="soli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5344C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同一批72个开发标本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CD6DE"/>
                      </a:solidFill>
                      <a:prstDash val="solid"/>
                    </a:lnR>
                    <a:lnB w="9525">
                      <a:solidFill>
                        <a:srgbClr val="CCD6DE"/>
                      </a:solidFill>
                      <a:prstDash val="soli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5344C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B：216条，完全排除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CD6DE"/>
                      </a:solidFill>
                      <a:prstDash val="solid"/>
                    </a:lnR>
                    <a:lnB w="9525">
                      <a:solidFill>
                        <a:srgbClr val="CCD6DE"/>
                      </a:solidFill>
                      <a:prstDash val="solid"/>
                    </a:lnB>
                    <a:solidFill>
                      <a:srgbClr val="F1F5F7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0B84A0-32F0-4CC8-9B72-0DB6A2ADC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238750"/>
            <a:ext cx="10668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defRPr sz="217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defRPr sz="217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defRPr sz="217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defRPr sz="217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defRPr sz="217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defRPr sz="217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defRPr sz="217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defRPr sz="217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defRPr sz="217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rPr>
              <a:t>目标：识别未见物理标本，并检查同批新标本换仪器后的表现。</a:t>
            </a:r>
          </a:p>
        </p:txBody>
      </p:sp>
    </p:spTree>
    <p:extLst>
      <p:ext uri="{BB962C8B-B14F-4D97-AF65-F5344CB8AC3E}">
        <p14:creationId xmlns:p14="http://schemas.microsoft.com/office/powerpoint/2010/main" val="154678414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870AE11-16FB-4423-8099-E692CD8F1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rPr>
              <a:t>验证边界与选模顺序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4C803E9-EDCD-45EB-9378-7FA7E8C27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001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rPr>
              <a:t>G04 · 第4章机器学习 · 教学模拟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B33308C-9868-4C12-A488-5D53FECBF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rPr>
              <a:t>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E8350E-73C3-434E-BF64-E70B7055A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76375"/>
            <a:ext cx="1047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rPr>
              <a:t>开发集：72个标本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B58A1D2-E395-4C29-86A5-9E658DE92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952625"/>
            <a:ext cx="104775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rPr>
              <a:t>逐谱随机划分作为泄漏反例；按标本分组结果用于选择候选。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CC80C00-B0E7-434F-93FA-98AA6352E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33675"/>
            <a:ext cx="1047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rPr>
              <a:t>每个训练折内拟合完整Pipeline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E78FEF2-9893-4291-B389-917BCD82E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09925"/>
            <a:ext cx="104775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rPr>
              <a:t>标准化、PCA与分类器均不得提前使用验证折。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190FD26-B438-4BAE-B766-5308E4593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990975"/>
            <a:ext cx="1047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rPr>
              <a:t>流程冻结后评估18个留出标本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CD0FB19-EC39-4687-A789-FA4A5E1C1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467225"/>
            <a:ext cx="104775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rPr>
              <a:t>在A与B上配对预测；B结果不反向修改当前选择。</a:t>
            </a:r>
          </a:p>
        </p:txBody>
      </p:sp>
    </p:spTree>
    <p:extLst>
      <p:ext uri="{BB962C8B-B14F-4D97-AF65-F5344CB8AC3E}">
        <p14:creationId xmlns:p14="http://schemas.microsoft.com/office/powerpoint/2010/main" val="68844966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410D07D-4D69-44C8-9E48-CE68FD323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rPr>
              <a:t>逐谱随机划分抬高了本例分数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76475BA-F334-4E19-818E-8BC0E4384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001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rPr>
              <a:t>G04 · 第4章机器学习 · 教学模拟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2173B08-8A6D-421F-8B72-A74E40C91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rPr>
              <a:t>5</a:t>
            </a:r>
          </a:p>
        </p:txBody>
      </p:sp>
      <p:graphicFrame>
        <p:nvGraphicFramePr>
          <p:cNvPr id="4" name="Chart">
            <a:extLst xmlns:a="http://schemas.openxmlformats.org/drawingml/2006/main">
              <a:ext uri="{FF2B5EF4-FFF2-40B4-BE49-F238E27FC236}">
                <a16:creationId xmlns:a16="http://schemas.microsoft.com/office/drawing/2014/main" id="{A9D1776C-55E3-4D55-989B-530F80A657BE}"/>
              </a:ext>
            </a:extLst>
          </p:cNvPr>
          <p:cNvGraphicFramePr/>
          <p:nvPr/>
        </p:nvGraphicFramePr>
        <p:xfrm>
          <a:off xmlns:a="http://schemas.openxmlformats.org/drawingml/2006/main" x="762000" y="1476375"/>
          <a:ext xmlns:a="http://schemas.openxmlformats.org/drawingml/2006/main" cx="10668000" cy="3476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f20b0970d5d4b2c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CFEE37B-4B2C-4D43-AA7D-070A2EE2A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314950"/>
            <a:ext cx="10668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defRPr sz="217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defRPr sz="217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defRPr sz="217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defRPr sz="217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defRPr sz="217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defRPr sz="217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defRPr sz="217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defRPr sz="217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defRPr sz="217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rPr>
              <a:t>1NN：0.9861 → 0.5537。分组划分改变了“预测新对象”的难度。</a:t>
            </a:r>
          </a:p>
        </p:txBody>
      </p:sp>
    </p:spTree>
    <p:extLst>
      <p:ext uri="{BB962C8B-B14F-4D97-AF65-F5344CB8AC3E}">
        <p14:creationId xmlns:p14="http://schemas.microsoft.com/office/powerpoint/2010/main" val="72035295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2C94E89-6942-4EE7-909A-8E85B4268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rPr>
              <a:t>随机标签负对照揭示身份泄漏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983513B-E531-4B52-A322-3F61113AA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001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rPr>
              <a:t>G04 · 第4章机器学习 · 教学模拟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D8B3562-7CA4-4288-9F1B-7631E4DC7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rPr>
              <a:t>6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0EBB3A-2A84-401A-BFFC-113AB0F5844E}"/>
              </a:ext>
            </a:extLst>
          </p:cNvPr>
          <p:cNvGraphicFramePr/>
          <p:nvPr/>
        </p:nvGraphicFramePr>
        <p:xfrm>
          <a:off xmlns:a="http://schemas.openxmlformats.org/drawingml/2006/main" x="609600" y="1524000"/>
          <a:ext xmlns:a="http://schemas.openxmlformats.org/drawingml/2006/main" cx="10972800" cy="2571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810000"/>
                <a:gridCol w="2857500"/>
                <a:gridCol w="4305300"/>
              </a:tblGrid>
              <a:tr h="85725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1NN验证方式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CD6DE"/>
                      </a:solidFill>
                      <a:prstDash val="solid"/>
                    </a:lnL>
                    <a:lnR w="9525">
                      <a:solidFill>
                        <a:srgbClr val="CCD6DE"/>
                      </a:solidFill>
                      <a:prstDash val="solid"/>
                    </a:lnR>
                    <a:lnT w="9525">
                      <a:solidFill>
                        <a:srgbClr val="CCD6DE"/>
                      </a:solidFill>
                      <a:prstDash val="solid"/>
                    </a:lnT>
                    <a:lnB w="9525">
                      <a:solidFill>
                        <a:srgbClr val="CCD6DE"/>
                      </a:solidFill>
                      <a:prstDash val="solid"/>
                    </a:lnB>
                    <a:solidFill>
                      <a:srgbClr val="15344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199次均值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CD6DE"/>
                      </a:solidFill>
                      <a:prstDash val="solid"/>
                    </a:lnR>
                    <a:lnT w="9525">
                      <a:solidFill>
                        <a:srgbClr val="CCD6DE"/>
                      </a:solidFill>
                      <a:prstDash val="solid"/>
                    </a:lnT>
                    <a:lnB w="9525">
                      <a:solidFill>
                        <a:srgbClr val="CCD6DE"/>
                      </a:solidFill>
                      <a:prstDash val="solid"/>
                    </a:lnB>
                    <a:solidFill>
                      <a:srgbClr val="15344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2.5%—97.5%分位数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CD6DE"/>
                      </a:solidFill>
                      <a:prstDash val="solid"/>
                    </a:lnR>
                    <a:lnT w="9525">
                      <a:solidFill>
                        <a:srgbClr val="CCD6DE"/>
                      </a:solidFill>
                      <a:prstDash val="solid"/>
                    </a:lnT>
                    <a:lnB w="9525">
                      <a:solidFill>
                        <a:srgbClr val="CCD6DE"/>
                      </a:solidFill>
                      <a:prstDash val="solid"/>
                    </a:lnB>
                    <a:solidFill>
                      <a:srgbClr val="15344C"/>
                    </a:solidFill>
                  </a:tcPr>
                </a:tc>
              </a:tr>
              <a:tr h="85725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5344C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逐谱随机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CD6DE"/>
                      </a:solidFill>
                      <a:prstDash val="solid"/>
                    </a:lnL>
                    <a:lnR w="9525">
                      <a:solidFill>
                        <a:srgbClr val="CCD6DE"/>
                      </a:solidFill>
                      <a:prstDash val="solid"/>
                    </a:lnR>
                    <a:lnB w="9525">
                      <a:solidFill>
                        <a:srgbClr val="CCD6DE"/>
                      </a:solidFill>
                      <a:prstDash val="soli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5344C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0.9818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CD6DE"/>
                      </a:solidFill>
                      <a:prstDash val="solid"/>
                    </a:lnR>
                    <a:lnB w="9525">
                      <a:solidFill>
                        <a:srgbClr val="CCD6DE"/>
                      </a:solidFill>
                      <a:prstDash val="soli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5344C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0.9719—1.0000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CD6DE"/>
                      </a:solidFill>
                      <a:prstDash val="solid"/>
                    </a:lnR>
                    <a:lnB w="9525">
                      <a:solidFill>
                        <a:srgbClr val="CCD6DE"/>
                      </a:solidFill>
                      <a:prstDash val="solid"/>
                    </a:lnB>
                    <a:solidFill>
                      <a:srgbClr val="F1F5F7"/>
                    </a:solidFill>
                  </a:tcPr>
                </a:tc>
              </a:tr>
              <a:tr h="85725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5344C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按标本分组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CD6DE"/>
                      </a:solidFill>
                      <a:prstDash val="solid"/>
                    </a:lnL>
                    <a:lnR w="9525">
                      <a:solidFill>
                        <a:srgbClr val="CCD6DE"/>
                      </a:solidFill>
                      <a:prstDash val="solid"/>
                    </a:lnR>
                    <a:lnB w="9525">
                      <a:solidFill>
                        <a:srgbClr val="CCD6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5344C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0.3335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CD6DE"/>
                      </a:solidFill>
                      <a:prstDash val="solid"/>
                    </a:lnR>
                    <a:lnB w="9525">
                      <a:solidFill>
                        <a:srgbClr val="CCD6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5344C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0.2221—0.4583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CD6DE"/>
                      </a:solidFill>
                      <a:prstDash val="solid"/>
                    </a:lnR>
                    <a:lnB w="9525">
                      <a:solidFill>
                        <a:srgbClr val="CCD6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1E2059E-7543-43DA-86AA-71925EEE3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495800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defRPr sz="2400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defRPr sz="2400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defRPr sz="2400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defRPr sz="2400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defRPr sz="2400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defRPr sz="2400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defRPr sz="2400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defRPr sz="2400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defRPr sz="2400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defRPr sz="2400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rPr>
              <a:t>标签已经不含矿物类别信息，逐谱随机依然接近满分。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FB4884-85F2-4053-92CF-D72383C08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219700"/>
            <a:ext cx="10572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rPr>
              <a:t>反例说明重复扫描可以暴露标本身份；一次随机标签结果不足以概括随机性。</a:t>
            </a:r>
          </a:p>
        </p:txBody>
      </p:sp>
    </p:spTree>
    <p:extLst>
      <p:ext uri="{BB962C8B-B14F-4D97-AF65-F5344CB8AC3E}">
        <p14:creationId xmlns:p14="http://schemas.microsoft.com/office/powerpoint/2010/main" val="181463727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FB9154C-5770-4DC3-B7D1-F22DA2D0A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rPr>
              <a:t>同一批新标本换仪器后性能下降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58DC5B0-CAA9-46D7-8AEE-DBEF11017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001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rPr>
              <a:t>G04 · 第4章机器学习 · 教学模拟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496C683-8F3F-425B-ABE6-4A9C5BCF2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rPr>
              <a:t>7</a:t>
            </a:r>
          </a:p>
        </p:txBody>
      </p:sp>
      <p:graphicFrame>
        <p:nvGraphicFramePr>
          <p:cNvPr id="4" name="Chart">
            <a:extLst xmlns:a="http://schemas.openxmlformats.org/drawingml/2006/main">
              <a:ext uri="{FF2B5EF4-FFF2-40B4-BE49-F238E27FC236}">
                <a16:creationId xmlns:a16="http://schemas.microsoft.com/office/drawing/2014/main" id="{E4F7C402-76B1-410C-956F-575E70420C75}"/>
              </a:ext>
            </a:extLst>
          </p:cNvPr>
          <p:cNvGraphicFramePr/>
          <p:nvPr/>
        </p:nvGraphicFramePr>
        <p:xfrm>
          <a:off xmlns:a="http://schemas.openxmlformats.org/drawingml/2006/main" x="762000" y="1476375"/>
          <a:ext xmlns:a="http://schemas.openxmlformats.org/drawingml/2006/main" cx="10668000" cy="3476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5503df942584693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7E7314A-611E-4B58-8FDF-D3F31A6F6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286375"/>
            <a:ext cx="10668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defRPr sz="217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defRPr sz="217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defRPr sz="217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defRPr sz="217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defRPr sz="217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defRPr sz="217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defRPr sz="217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defRPr sz="217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defRPr sz="217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rPr>
              <a:t>0.8364 → 0.2081：在标本层面分组，仍不能保证跨仪器有效。</a:t>
            </a:r>
          </a:p>
        </p:txBody>
      </p:sp>
    </p:spTree>
    <p:extLst>
      <p:ext uri="{BB962C8B-B14F-4D97-AF65-F5344CB8AC3E}">
        <p14:creationId xmlns:p14="http://schemas.microsoft.com/office/powerpoint/2010/main" val="202187583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A91D40E-B91D-408B-BEAD-91F72EB2D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rPr>
              <a:t>预处理改善了固定模拟条件下的表现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038AFA9-C710-4DA2-8C53-902CB3627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001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rPr>
              <a:t>G04 · 第4章机器学习 · 教学模拟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3BEFF1A-1F3C-4F32-AF13-CA34EE2CC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rPr>
              <a:t>8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FD79497-1584-4C3C-A977-23D08727853A}"/>
              </a:ext>
            </a:extLst>
          </p:cNvPr>
          <p:cNvGraphicFramePr/>
          <p:nvPr/>
        </p:nvGraphicFramePr>
        <p:xfrm>
          <a:off xmlns:a="http://schemas.openxmlformats.org/drawingml/2006/main" x="609600" y="1476375"/>
          <a:ext xmlns:a="http://schemas.openxmlformats.org/drawingml/2006/main" cx="10972800" cy="2667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381500"/>
                <a:gridCol w="2190750"/>
                <a:gridCol w="2190750"/>
                <a:gridCol w="2209800"/>
              </a:tblGrid>
              <a:tr h="88900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五种子均值宏F1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CD6DE"/>
                      </a:solidFill>
                      <a:prstDash val="solid"/>
                    </a:lnL>
                    <a:lnR w="9525">
                      <a:solidFill>
                        <a:srgbClr val="CCD6DE"/>
                      </a:solidFill>
                      <a:prstDash val="solid"/>
                    </a:lnR>
                    <a:lnT w="9525">
                      <a:solidFill>
                        <a:srgbClr val="CCD6DE"/>
                      </a:solidFill>
                      <a:prstDash val="solid"/>
                    </a:lnT>
                    <a:lnB w="9525">
                      <a:solidFill>
                        <a:srgbClr val="CCD6DE"/>
                      </a:solidFill>
                      <a:prstDash val="solid"/>
                    </a:lnB>
                    <a:solidFill>
                      <a:srgbClr val="15344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开发分组CV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CD6DE"/>
                      </a:solidFill>
                      <a:prstDash val="solid"/>
                    </a:lnR>
                    <a:lnT w="9525">
                      <a:solidFill>
                        <a:srgbClr val="CCD6DE"/>
                      </a:solidFill>
                      <a:prstDash val="solid"/>
                    </a:lnT>
                    <a:lnB w="9525">
                      <a:solidFill>
                        <a:srgbClr val="CCD6DE"/>
                      </a:solidFill>
                      <a:prstDash val="solid"/>
                    </a:lnB>
                    <a:solidFill>
                      <a:srgbClr val="15344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A留出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CD6DE"/>
                      </a:solidFill>
                      <a:prstDash val="solid"/>
                    </a:lnR>
                    <a:lnT w="9525">
                      <a:solidFill>
                        <a:srgbClr val="CCD6DE"/>
                      </a:solidFill>
                      <a:prstDash val="solid"/>
                    </a:lnT>
                    <a:lnB w="9525">
                      <a:solidFill>
                        <a:srgbClr val="CCD6DE"/>
                      </a:solidFill>
                      <a:prstDash val="solid"/>
                    </a:lnB>
                    <a:solidFill>
                      <a:srgbClr val="15344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B留出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CD6DE"/>
                      </a:solidFill>
                      <a:prstDash val="solid"/>
                    </a:lnR>
                    <a:lnT w="9525">
                      <a:solidFill>
                        <a:srgbClr val="CCD6DE"/>
                      </a:solidFill>
                      <a:prstDash val="solid"/>
                    </a:lnT>
                    <a:lnB w="9525">
                      <a:solidFill>
                        <a:srgbClr val="CCD6DE"/>
                      </a:solidFill>
                      <a:prstDash val="solid"/>
                    </a:lnB>
                    <a:solidFill>
                      <a:srgbClr val="15344C"/>
                    </a:solidFill>
                  </a:tcPr>
                </a:tc>
              </a:tr>
              <a:tr h="88900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5344C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原始标准化 + SVC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CD6DE"/>
                      </a:solidFill>
                      <a:prstDash val="solid"/>
                    </a:lnL>
                    <a:lnR w="9525">
                      <a:solidFill>
                        <a:srgbClr val="CCD6DE"/>
                      </a:solidFill>
                      <a:prstDash val="solid"/>
                    </a:lnR>
                    <a:lnB w="9525">
                      <a:solidFill>
                        <a:srgbClr val="CCD6DE"/>
                      </a:solidFill>
                      <a:prstDash val="soli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5344C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0.8916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CD6DE"/>
                      </a:solidFill>
                      <a:prstDash val="solid"/>
                    </a:lnR>
                    <a:lnB w="9525">
                      <a:solidFill>
                        <a:srgbClr val="CCD6DE"/>
                      </a:solidFill>
                      <a:prstDash val="soli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5344C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0.9128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CD6DE"/>
                      </a:solidFill>
                      <a:prstDash val="solid"/>
                    </a:lnR>
                    <a:lnB w="9525">
                      <a:solidFill>
                        <a:srgbClr val="CCD6DE"/>
                      </a:solidFill>
                      <a:prstDash val="soli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5344C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0.2783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CD6DE"/>
                      </a:solidFill>
                      <a:prstDash val="solid"/>
                    </a:lnR>
                    <a:lnB w="9525">
                      <a:solidFill>
                        <a:srgbClr val="CCD6DE"/>
                      </a:solidFill>
                      <a:prstDash val="solid"/>
                    </a:lnB>
                    <a:solidFill>
                      <a:srgbClr val="F1F5F7"/>
                    </a:solidFill>
                  </a:tcPr>
                </a:tc>
              </a:tr>
              <a:tr h="88900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5344C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arPLS + L2 + SVC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CD6DE"/>
                      </a:solidFill>
                      <a:prstDash val="solid"/>
                    </a:lnL>
                    <a:lnR w="9525">
                      <a:solidFill>
                        <a:srgbClr val="CCD6DE"/>
                      </a:solidFill>
                      <a:prstDash val="solid"/>
                    </a:lnR>
                    <a:lnB w="9525">
                      <a:solidFill>
                        <a:srgbClr val="CCD6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5344C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0.9972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CD6DE"/>
                      </a:solidFill>
                      <a:prstDash val="solid"/>
                    </a:lnR>
                    <a:lnB w="9525">
                      <a:solidFill>
                        <a:srgbClr val="CCD6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5344C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1.0000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CD6DE"/>
                      </a:solidFill>
                      <a:prstDash val="solid"/>
                    </a:lnR>
                    <a:lnB w="9525">
                      <a:solidFill>
                        <a:srgbClr val="CCD6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5344C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0.9888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CD6DE"/>
                      </a:solidFill>
                      <a:prstDash val="solid"/>
                    </a:lnR>
                    <a:lnB w="9525">
                      <a:solidFill>
                        <a:srgbClr val="CCD6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D704E57-3A78-4738-AC6A-ECA77A9DA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43425"/>
            <a:ext cx="106203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defRPr sz="2250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defRPr sz="2250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defRPr sz="2250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defRPr sz="2250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defRPr sz="2250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defRPr sz="2250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defRPr sz="2250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defRPr sz="2250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defRPr sz="2250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250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rPr>
              <a:t>组合处理改变基线与强度尺度，没有进行波数轴校准。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26B488A-207D-47A2-AFB3-993BF4CBB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238750"/>
            <a:ext cx="10620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rPr>
              <a:t>高分受简单三分类模拟条件限制；不能归因于单一步骤，也不是实测迁移证据。</a:t>
            </a:r>
          </a:p>
        </p:txBody>
      </p:sp>
    </p:spTree>
    <p:extLst>
      <p:ext uri="{BB962C8B-B14F-4D97-AF65-F5344CB8AC3E}">
        <p14:creationId xmlns:p14="http://schemas.microsoft.com/office/powerpoint/2010/main" val="151723126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58A93AA-BF85-4B86-A85D-33245F094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rPr>
              <a:t>概率校准与阈值选择也需要独立边界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9E4853B-7F79-424B-BA37-1E1F3AF3A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001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rPr>
              <a:t>G04 · 第4章机器学习 · 教学模拟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31A1AA5-CF63-428E-83FF-3A3C97A39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rPr>
              <a:t>9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C78FA21-3FD9-4228-B576-6904EBB96C43}"/>
              </a:ext>
            </a:extLst>
          </p:cNvPr>
          <p:cNvGraphicFramePr/>
          <p:nvPr/>
        </p:nvGraphicFramePr>
        <p:xfrm>
          <a:off xmlns:a="http://schemas.openxmlformats.org/drawingml/2006/main" x="609600" y="1428750"/>
          <a:ext xmlns:a="http://schemas.openxmlformats.org/drawingml/2006/main" cx="10972800" cy="3143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238500"/>
                <a:gridCol w="5429250"/>
                <a:gridCol w="2305050"/>
              </a:tblGrid>
              <a:tr h="785813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分区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CD6DE"/>
                      </a:solidFill>
                      <a:prstDash val="solid"/>
                    </a:lnL>
                    <a:lnR w="9525">
                      <a:solidFill>
                        <a:srgbClr val="CCD6DE"/>
                      </a:solidFill>
                      <a:prstDash val="solid"/>
                    </a:lnR>
                    <a:lnT w="9525">
                      <a:solidFill>
                        <a:srgbClr val="CCD6DE"/>
                      </a:solidFill>
                      <a:prstDash val="solid"/>
                    </a:lnT>
                    <a:lnB w="9525">
                      <a:solidFill>
                        <a:srgbClr val="CCD6DE"/>
                      </a:solidFill>
                      <a:prstDash val="solid"/>
                    </a:lnB>
                    <a:solidFill>
                      <a:srgbClr val="15344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职责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CD6DE"/>
                      </a:solidFill>
                      <a:prstDash val="solid"/>
                    </a:lnR>
                    <a:lnT w="9525">
                      <a:solidFill>
                        <a:srgbClr val="CCD6DE"/>
                      </a:solidFill>
                      <a:prstDash val="solid"/>
                    </a:lnT>
                    <a:lnB w="9525">
                      <a:solidFill>
                        <a:srgbClr val="CCD6DE"/>
                      </a:solidFill>
                      <a:prstDash val="solid"/>
                    </a:lnB>
                    <a:solidFill>
                      <a:srgbClr val="15344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样本量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CD6DE"/>
                      </a:solidFill>
                      <a:prstDash val="solid"/>
                    </a:lnR>
                    <a:lnT w="9525">
                      <a:solidFill>
                        <a:srgbClr val="CCD6DE"/>
                      </a:solidFill>
                      <a:prstDash val="solid"/>
                    </a:lnT>
                    <a:lnB w="9525">
                      <a:solidFill>
                        <a:srgbClr val="CCD6DE"/>
                      </a:solidFill>
                      <a:prstDash val="solid"/>
                    </a:lnB>
                    <a:solidFill>
                      <a:srgbClr val="15344C"/>
                    </a:solidFill>
                  </a:tcPr>
                </a:tc>
              </a:tr>
              <a:tr h="785813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5344C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拟合集 / 校准集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CD6DE"/>
                      </a:solidFill>
                      <a:prstDash val="solid"/>
                    </a:lnL>
                    <a:lnR w="9525">
                      <a:solidFill>
                        <a:srgbClr val="CCD6DE"/>
                      </a:solidFill>
                      <a:prstDash val="solid"/>
                    </a:lnR>
                    <a:lnB w="9525">
                      <a:solidFill>
                        <a:srgbClr val="CCD6DE"/>
                      </a:solidFill>
                      <a:prstDash val="soli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5344C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拟合分类器 / 拟合sigmoid校准器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CD6DE"/>
                      </a:solidFill>
                      <a:prstDash val="solid"/>
                    </a:lnR>
                    <a:lnB w="9525">
                      <a:solidFill>
                        <a:srgbClr val="CCD6DE"/>
                      </a:solidFill>
                      <a:prstDash val="soli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5344C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1440 / 480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CD6DE"/>
                      </a:solidFill>
                      <a:prstDash val="solid"/>
                    </a:lnR>
                    <a:lnB w="9525">
                      <a:solidFill>
                        <a:srgbClr val="CCD6DE"/>
                      </a:solidFill>
                      <a:prstDash val="solid"/>
                    </a:lnB>
                    <a:solidFill>
                      <a:srgbClr val="F1F5F7"/>
                    </a:solidFill>
                  </a:tcPr>
                </a:tc>
              </a:tr>
              <a:tr h="785813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5344C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阈值验证集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CD6DE"/>
                      </a:solidFill>
                      <a:prstDash val="solid"/>
                    </a:lnL>
                    <a:lnR w="9525">
                      <a:solidFill>
                        <a:srgbClr val="CCD6DE"/>
                      </a:solidFill>
                      <a:prstDash val="solid"/>
                    </a:lnR>
                    <a:lnB w="9525">
                      <a:solidFill>
                        <a:srgbClr val="CCD6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5344C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按照预定误判代价选择阈值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CD6DE"/>
                      </a:solidFill>
                      <a:prstDash val="solid"/>
                    </a:lnR>
                    <a:lnB w="9525">
                      <a:solidFill>
                        <a:srgbClr val="CCD6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5344C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240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CD6DE"/>
                      </a:solidFill>
                      <a:prstDash val="solid"/>
                    </a:lnR>
                    <a:lnB w="9525">
                      <a:solidFill>
                        <a:srgbClr val="CCD6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85813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5344C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最终测试集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CD6DE"/>
                      </a:solidFill>
                      <a:prstDash val="solid"/>
                    </a:lnL>
                    <a:lnR w="9525">
                      <a:solidFill>
                        <a:srgbClr val="CCD6DE"/>
                      </a:solidFill>
                      <a:prstDash val="solid"/>
                    </a:lnR>
                    <a:lnB w="9525">
                      <a:solidFill>
                        <a:srgbClr val="CCD6DE"/>
                      </a:solidFill>
                      <a:prstDash val="soli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5344C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冻结后报告概率与决策表现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CD6DE"/>
                      </a:solidFill>
                      <a:prstDash val="solid"/>
                    </a:lnR>
                    <a:lnB w="9525">
                      <a:solidFill>
                        <a:srgbClr val="CCD6DE"/>
                      </a:solidFill>
                      <a:prstDash val="soli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5344C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240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CD6DE"/>
                      </a:solidFill>
                      <a:prstDash val="solid"/>
                    </a:lnR>
                    <a:lnB w="9525">
                      <a:solidFill>
                        <a:srgbClr val="CCD6DE"/>
                      </a:solidFill>
                      <a:prstDash val="solid"/>
                    </a:lnB>
                    <a:solidFill>
                      <a:srgbClr val="F1F5F7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B20347-6F8D-4946-B961-9A8A2632C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000625"/>
            <a:ext cx="1066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defRPr sz="2250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defRPr sz="2250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defRPr sz="2250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defRPr sz="2250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defRPr sz="2250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defRPr sz="2250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defRPr sz="2250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defRPr sz="2250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defRPr sz="2250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250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rPr>
              <a:t>本例测试Brier：0.069738 → 0.069828，略变差。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658DA0-B021-45C2-8D8A-C05F56EA6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600700"/>
            <a:ext cx="1066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defRPr sz="187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defRPr sz="187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defRPr sz="187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defRPr sz="187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defRPr sz="187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defRPr sz="187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defRPr sz="187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defRPr sz="187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defRPr sz="187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rPr>
              <a:t>校准并不保证每次改善；Brier也同时受区分能力和数据不确定性影响。</a:t>
            </a:r>
          </a:p>
        </p:txBody>
      </p:sp>
    </p:spTree>
    <p:extLst>
      <p:ext uri="{BB962C8B-B14F-4D97-AF65-F5344CB8AC3E}">
        <p14:creationId xmlns:p14="http://schemas.microsoft.com/office/powerpoint/2010/main" val="38328253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4549C49-462B-4391-85B9-CD7D1FA7B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rPr>
              <a:t>近年前沿为本章补充了什么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3E5CEC5-DAB9-4EFA-95ED-F72E36C49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001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rPr>
              <a:t>G04 · 第4章机器学习 · 教学模拟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92B4854-55B5-422F-91BC-0066A373B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rPr>
              <a:t>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030360D-D58D-40ED-B14E-37BED1619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76375"/>
            <a:ext cx="1047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rPr>
              <a:t>REFORMS（2024）：报告规范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FEF2E03-09E2-4C18-8884-E20A54C6A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952625"/>
            <a:ext cx="104775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rPr>
              <a:t>把依赖关系、分析步骤与复现信息显式报告；清单本身不能保证设计正确。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DAFDE0-5E81-4E18-AAA4-44DCA0BB2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33675"/>
            <a:ext cx="1047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rPr>
              <a:t>拉曼验证比较（2025）：划分影响排名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0D1E714-5A1B-4A54-B8B7-CEB4529B9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09925"/>
            <a:ext cx="104775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rPr>
              <a:t>不同验证策略影响估计；具体数据集结论不能替代部署场景判断。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9EC59FA-B018-489B-8EEC-88BE84F6B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990975"/>
            <a:ext cx="1047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rPr>
              <a:t>TabPFN（2025）：表格基础模型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21DC23-95D3-489B-B536-8B0C1F8A7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467225"/>
            <a:ext cx="104775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rPr>
              <a:t>预训练先验提供新基线；不能默认适用于高维原始拉曼谱或跨仪器场景。</a:t>
            </a:r>
          </a:p>
        </p:txBody>
      </p:sp>
    </p:spTree>
    <p:extLst>
      <p:ext uri="{BB962C8B-B14F-4D97-AF65-F5344CB8AC3E}">
        <p14:creationId xmlns:p14="http://schemas.microsoft.com/office/powerpoint/2010/main" val="211472701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44CBC1E-E069-4AFE-A756-0DA5A521F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rPr>
              <a:t>课堂演示与传承题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19C023A-4513-4671-8666-5752850A0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001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rPr>
              <a:t>G04 · 第4章机器学习 · 教学模拟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1095EE4-4BB0-48D5-9E42-149D65A92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rPr>
              <a:t>11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71FB47F-3B90-4F42-9FEE-FF1DA59F2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76375"/>
            <a:ext cx="1047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rPr>
              <a:t>现场演示：切换逐谱与分组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A0A99FF-348E-4134-84FB-DE7983F87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952625"/>
            <a:ext cx="104775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rPr>
              <a:t>观察训练/验证共享标本数、红框以及全部四折的标本级混淆矩阵。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8518C2E-223E-4BCE-989E-F005C0101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33675"/>
            <a:ext cx="1047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rPr>
              <a:t>继续切换仪器与处理流程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F06D783-CBCE-4E38-8E34-7B782B614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09925"/>
            <a:ext cx="104775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rPr>
              <a:t>比较A/B，查看五个种子的全部结果；数值来自已保存的预测文件。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E32CA1-FFF2-40BA-812A-4392BB42D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990975"/>
            <a:ext cx="1047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rPr>
              <a:t>传承题：投票能否消除泄漏？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580F5F2-B9C5-4617-BAF3-9C9C940A0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467225"/>
            <a:ext cx="104775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rPr>
              <a:t>不能。把折外扫描聚合为标本预测，不会改变训练时的信息边界。</a:t>
            </a:r>
          </a:p>
        </p:txBody>
      </p:sp>
    </p:spTree>
    <p:extLst>
      <p:ext uri="{BB962C8B-B14F-4D97-AF65-F5344CB8AC3E}">
        <p14:creationId xmlns:p14="http://schemas.microsoft.com/office/powerpoint/2010/main" val="36269823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CC0AD98-8D8A-47F4-AB54-8DB9B6A41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300" b="1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rPr>
              <a:t>当前结论与下一步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BC2598A-C4F3-4043-AEDE-4C81E0C48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001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rPr>
              <a:t>G04 · 第4章机器学习 · 教学模拟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FE50457-5486-4C55-9674-8FBE20012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>
                <a:solidFill>
                  <a:srgbClr val="556A79"/>
                </a:solidFill>
                <a:latin typeface="Noto Sans CJK SC"/>
                <a:ea typeface="Noto Sans CJK SC"/>
                <a:cs typeface="Noto Sans CJK SC"/>
              </a:rPr>
              <a:t>12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B4F85F-CB24-433B-AA1C-18F5EB306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76375"/>
            <a:ext cx="1047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rPr>
              <a:t>已得到的证据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5860AC-EFAC-4DF5-8845-636E3FA1F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952625"/>
            <a:ext cx="104775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rPr>
              <a:t>在本模拟中，重复谱泄漏可夸大分数；分组评价与域外评价回答不同问题。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438928-9233-4CAE-9BCE-39A538894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33675"/>
            <a:ext cx="1047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rPr>
              <a:t>目前的限制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22F4D58-7623-4CB1-8E61-AAA7A2515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09925"/>
            <a:ext cx="104775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rPr>
              <a:t>只有三类、简化谱形与有限标本；未使用实测RRUFF数据，不能报告真实识别率。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DFBEC77-0F08-42A7-BA34-506C29AD6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990975"/>
            <a:ext cx="1047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def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326A91"/>
                </a:solidFill>
                <a:latin typeface="Noto Sans CJK SC"/>
                <a:ea typeface="Noto Sans CJK SC"/>
                <a:cs typeface="Noto Sans CJK SC"/>
              </a:rPr>
              <a:t>真实实验的进入条件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DA337E3-B584-43F4-A91C-B6380DA21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467225"/>
            <a:ext cx="104775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defPPr>
            <a:lvl1pPr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1pPr>
            <a:lvl2pPr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2pPr>
            <a:lvl3pPr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3pPr>
            <a:lvl4pPr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4pPr>
            <a:lvl5pPr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5pPr>
            <a:lvl6pPr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6pPr>
            <a:lvl7pPr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7pPr>
            <a:lvl8pPr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8pPr>
            <a:lvl9pPr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0">
                <a:solidFill>
                  <a:srgbClr val="15344C"/>
                </a:solidFill>
                <a:latin typeface="Noto Sans CJK SC"/>
                <a:ea typeface="Noto Sans CJK SC"/>
                <a:cs typeface="Noto Sans CJK SC"/>
              </a:rPr>
              <a:t>取得独立标本和配对仪器数据，记录来源与测量条件，再冻结新的验证方案。</a:t>
            </a:r>
          </a:p>
        </p:txBody>
      </p:sp>
    </p:spTree>
    <p:extLst>
      <p:ext uri="{BB962C8B-B14F-4D97-AF65-F5344CB8AC3E}">
        <p14:creationId xmlns:p14="http://schemas.microsoft.com/office/powerpoint/2010/main" val="133945991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2026-10-23T16:15:59.8420000Z</dcterms:created>
  <dcterms:modified xsi:type="dcterms:W3CDTF">2026-10-23T16:15:59.8420000Z</dcterms:modified>
</coreProperties>
</file>