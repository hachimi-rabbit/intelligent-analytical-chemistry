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13a48fff14ca3" /><Relationship Type="http://schemas.openxmlformats.org/officeDocument/2006/relationships/extended-properties" Target="/docProps/app.xml" Id="R3a3bd340c39a4460" /><Relationship Type="http://schemas.openxmlformats.org/officeDocument/2006/relationships/officeDocument" Target="/ppt/presentation.xml" Id="Rb096ef30d8f8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2faac442534bbf"/>
  </p:sldMasterIdLst>
  <p:notesMasterIdLst>
    <p:notesMasterId xmlns:r="http://schemas.openxmlformats.org/officeDocument/2006/relationships" r:id="Rdb472eb0a8c84c57"/>
  </p:notesMasterIdLst>
  <p:sldIdLst>
    <p:sldId xmlns:r="http://schemas.openxmlformats.org/officeDocument/2006/relationships" id="256" r:id="R4492d646581240dc"/>
    <p:sldId xmlns:r="http://schemas.openxmlformats.org/officeDocument/2006/relationships" id="257" r:id="R0b931c7d0f7e4de4"/>
    <p:sldId xmlns:r="http://schemas.openxmlformats.org/officeDocument/2006/relationships" id="258" r:id="Rbd44d53dc6854099"/>
    <p:sldId xmlns:r="http://schemas.openxmlformats.org/officeDocument/2006/relationships" id="259" r:id="Rcb1025bc299e4a63"/>
    <p:sldId xmlns:r="http://schemas.openxmlformats.org/officeDocument/2006/relationships" id="260" r:id="Rdbc67c140afb4eec"/>
    <p:sldId xmlns:r="http://schemas.openxmlformats.org/officeDocument/2006/relationships" id="261" r:id="R21a0b55aeb17495b"/>
    <p:sldId xmlns:r="http://schemas.openxmlformats.org/officeDocument/2006/relationships" id="262" r:id="Rc3ef1709acd642ed"/>
    <p:sldId xmlns:r="http://schemas.openxmlformats.org/officeDocument/2006/relationships" id="263" r:id="R2fb107c3befe436b"/>
    <p:sldId xmlns:r="http://schemas.openxmlformats.org/officeDocument/2006/relationships" id="264" r:id="R92f57fff38fd40d7"/>
    <p:sldId xmlns:r="http://schemas.openxmlformats.org/officeDocument/2006/relationships" id="265" r:id="R686f3940c53f4173"/>
    <p:sldId xmlns:r="http://schemas.openxmlformats.org/officeDocument/2006/relationships" id="266" r:id="Re110d91d44314bd7"/>
    <p:sldId xmlns:r="http://schemas.openxmlformats.org/officeDocument/2006/relationships" id="267" r:id="R08a051c2a11e48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c8817d8ea749d6" /><Relationship Type="http://schemas.openxmlformats.org/officeDocument/2006/relationships/slideMaster" Target="/ppt/slideMasters/slideMaster1.xml" Id="R4f2faac442534bbf" /><Relationship Type="http://schemas.openxmlformats.org/officeDocument/2006/relationships/notesMaster" Target="/ppt/notesMasters/notesMaster1.xml" Id="Rdb472eb0a8c84c57" /><Relationship Type="http://schemas.openxmlformats.org/officeDocument/2006/relationships/presProps" Target="/ppt/presProps.xml" Id="R54ede56302a14e0f" /><Relationship Type="http://schemas.openxmlformats.org/officeDocument/2006/relationships/tableStyles" Target="/ppt/tableStyles.xml" Id="R6b56460b615d46b1" /><Relationship Type="http://schemas.openxmlformats.org/officeDocument/2006/relationships/slide" Target="/ppt/slides/slide1.xml" Id="R4492d646581240dc" /><Relationship Type="http://schemas.openxmlformats.org/officeDocument/2006/relationships/slide" Target="/ppt/slides/slide2.xml" Id="R0b931c7d0f7e4de4" /><Relationship Type="http://schemas.openxmlformats.org/officeDocument/2006/relationships/slide" Target="/ppt/slides/slide3.xml" Id="Rbd44d53dc6854099" /><Relationship Type="http://schemas.openxmlformats.org/officeDocument/2006/relationships/slide" Target="/ppt/slides/slide4.xml" Id="Rcb1025bc299e4a63" /><Relationship Type="http://schemas.openxmlformats.org/officeDocument/2006/relationships/slide" Target="/ppt/slides/slide5.xml" Id="Rdbc67c140afb4eec" /><Relationship Type="http://schemas.openxmlformats.org/officeDocument/2006/relationships/slide" Target="/ppt/slides/slide6.xml" Id="R21a0b55aeb17495b" /><Relationship Type="http://schemas.openxmlformats.org/officeDocument/2006/relationships/slide" Target="/ppt/slides/slide7.xml" Id="Rc3ef1709acd642ed" /><Relationship Type="http://schemas.openxmlformats.org/officeDocument/2006/relationships/slide" Target="/ppt/slides/slide8.xml" Id="R2fb107c3befe436b" /><Relationship Type="http://schemas.openxmlformats.org/officeDocument/2006/relationships/slide" Target="/ppt/slides/slide9.xml" Id="R92f57fff38fd40d7" /><Relationship Type="http://schemas.openxmlformats.org/officeDocument/2006/relationships/slide" Target="/ppt/slides/slide10.xml" Id="R686f3940c53f4173" /><Relationship Type="http://schemas.openxmlformats.org/officeDocument/2006/relationships/slide" Target="/ppt/slides/slide11.xml" Id="Re110d91d44314bd7" /><Relationship Type="http://schemas.openxmlformats.org/officeDocument/2006/relationships/slide" Target="/ppt/slides/slide12.xml" Id="R08a051c2a11e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ea43f26d5d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f9d7eba1e486f" /><Relationship Type="http://schemas.openxmlformats.org/officeDocument/2006/relationships/notesMaster" Target="/ppt/notesMasters/notesMaster1.xml" Id="R5a0cc81391a144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815665e9b0454d" /><Relationship Type="http://schemas.openxmlformats.org/officeDocument/2006/relationships/notesMaster" Target="/ppt/notesMasters/notesMaster1.xml" Id="R5378c2b2cee74b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000792e274446" /><Relationship Type="http://schemas.openxmlformats.org/officeDocument/2006/relationships/notesMaster" Target="/ppt/notesMasters/notesMaster1.xml" Id="R1c12d7e29eda45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b8883c6232478a" /><Relationship Type="http://schemas.openxmlformats.org/officeDocument/2006/relationships/notesMaster" Target="/ppt/notesMasters/notesMaster1.xml" Id="R4cc4b375114e47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6c7b6fd754a7f" /><Relationship Type="http://schemas.openxmlformats.org/officeDocument/2006/relationships/notesMaster" Target="/ppt/notesMasters/notesMaster1.xml" Id="Re56c66fdaf9c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4002ef2ba4084" /><Relationship Type="http://schemas.openxmlformats.org/officeDocument/2006/relationships/notesMaster" Target="/ppt/notesMasters/notesMaster1.xml" Id="R091702cd973b4b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a773bbc6646c1" /><Relationship Type="http://schemas.openxmlformats.org/officeDocument/2006/relationships/notesMaster" Target="/ppt/notesMasters/notesMaster1.xml" Id="R03dc4f93e1bf41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eaca54d5c849c2" /><Relationship Type="http://schemas.openxmlformats.org/officeDocument/2006/relationships/notesMaster" Target="/ppt/notesMasters/notesMaster1.xml" Id="R7c2c90e787f0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7291c7a0f44d9" /><Relationship Type="http://schemas.openxmlformats.org/officeDocument/2006/relationships/notesMaster" Target="/ppt/notesMasters/notesMaster1.xml" Id="R655ae1fd56c848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62fef93b3547ee" /><Relationship Type="http://schemas.openxmlformats.org/officeDocument/2006/relationships/notesMaster" Target="/ppt/notesMasters/notesMaster1.xml" Id="R3f015fab2d074f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087c4df62644c2" /><Relationship Type="http://schemas.openxmlformats.org/officeDocument/2006/relationships/notesMaster" Target="/ppt/notesMasters/notesMaster1.xml" Id="R97c70a8383f94c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9007b430234402" /><Relationship Type="http://schemas.openxmlformats.org/officeDocument/2006/relationships/notesMaster" Target="/ppt/notesMasters/notesMaster1.xml" Id="Rf32169d20721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建议汇报总时长12分钟。本报告是第4章的案例讲解，不代表实测矿物鉴定。学生汇报稿，尚未经教师审核。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重点不是比较热门模型排名，而是把表达能力、化学假设与验证成本联系起来。基础来源：Hastie et al., The Elements of Statistical Learning, DOI:10.1007/978-0-387-84858-7。详细推导见docs/ch04.md。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数据来源：exercise.py，固定种子2026，outputs/simulation_config.json、metadata.csv。90×2×3=540。独立统计对象是物理标本。601个波数变量。开发B谱保留在数据中但不参与分析。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按标本分组StratifiedGroupKFold四折。Scaler、PCA在训练折内拟合。候选固定为Dummy、1NN、PCA_LR、RBF_SVC。CV分数参与选模，最终性能看未见标本。大量调参时使用嵌套分组CV。来源：Cawley &amp; Talbot, JMLR 2010, https://www.jmlr.org/papers/v11/cawley10a.html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来源：outputs/model_comparison.csv；汇总72个标本的四折折外预测，宏F1。逐谱随机只作为反例。其事后投票不能消除训练阶段已经存在的身份信息。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来源：extensions.py、outputs/permutation_scores.csv。固定随机源20261023，199次均衡标本级标签置换，1NN；同一标本三条扫描共享随机标签。分位数仅描述此置换过程，不是矿物识别置信区间，也没有计算正式显著性p值。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来源：outputs/holdout_sample_predictions.csv、metrics.json。通过开发分组CV选择RBF-SVC，冻结后在同一18个标本的A/B谱上预测。A/B并非36个独立标本。此种子2026结果已被查看，仅作为历史教学基准。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来源：extensions.py，outputs/preprocessing_panel.csv。五个固定种子1101—1105，全部候选与结果均报告。处理为arPLS(lambda=1e5,max_iter=30,tol=1e-3)与L2归一化，再SVC(C=10,gamma=scale)。原始流程含变量标准化。方法：Baek et al., Analyst 2015, DOI:10.1039/C4AN01061B。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来源：03_probability_calibration.py、outputs/calibration.json；独立二分类模拟2400个样本，与拉曼数据分开。拟合1440、校准480、阈值验证240、测试240。阈值在验证集上按FN/FP代价选择，冻结后测试。Guo et al., ICML2017 https://proceedings.mlr.press/v70/guo17a.html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REFORMS: Kapoor et al., Science Advances 2024, DOI:10.1126/sciadv.adk3452。Lilek et al., Journal of Raman Spectroscopy 2025, DOI:10.1002/jrs.6842。TabPFN: Hollmann et al., Nature 2025, DOI:10.1038/s41586-024-08328-6。正式来源和完整作者见年度引文。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离线页面assets/interactive/ch04.html保留相邻CSS/JS即可使用；展示真实Python预计算结果，不在浏览器训练。四道传承题含评分要点，见resources/annual/2026-2027/questions/README.md#ch04。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完整交付见docs/ch04.md、code/ch04_exercises/raman/README.md。当前成果：https://github.com/hachimi-rabbit/intelligent-analytical-chemistry/tree/main 。材料在个人仓库完善，课程Issue与PR暂缓。实验数据全部为模拟。真实配对验证需独立标本、仪器元数据、固定流程与新留出集，不应使用历史测试结果反复优化。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50d4f3f3e4c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28c5fc0124c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92d319ce740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bdaf62add47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5817825c74f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91af025c340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4E5192-D23B-4781-A193-A71FEC9A7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5A02C7-5144-4672-B344-E098F24350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223685-9EE5-487F-8701-383948D8B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3DAA71-159D-4AFC-91A3-ACBE608C8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2D2D58-1C6F-4F41-B059-F54290B520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BB3482-03E6-432D-9182-8A7F449A9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68C67-AEEE-4594-8C44-1571551FE9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7BDA81-0116-4A94-ABC9-EA14A60A4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B0AB6E-2BF1-49EE-9D81-EFF97948C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A50EAB-3AC2-4D85-B53F-CFC58FBAD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b22bfcdc34532" /><Relationship Type="http://schemas.openxmlformats.org/officeDocument/2006/relationships/slideLayout" Target="/ppt/slideLayouts/slideLayout1.xml" Id="R9806ef2d79ae45b7" /><Relationship Type="http://schemas.openxmlformats.org/officeDocument/2006/relationships/slideLayout" Target="/ppt/slideLayouts/slideLayout2.xml" Id="R6d7ed9cd93e440f4" /><Relationship Type="http://schemas.openxmlformats.org/officeDocument/2006/relationships/slideLayout" Target="/ppt/slideLayouts/slideLayout3.xml" Id="R9e45afa496604af6" /><Relationship Type="http://schemas.openxmlformats.org/officeDocument/2006/relationships/slideLayout" Target="/ppt/slideLayouts/slideLayout4.xml" Id="R20c157cac3c3457e" /><Relationship Type="http://schemas.openxmlformats.org/officeDocument/2006/relationships/slideLayout" Target="/ppt/slideLayouts/slideLayout5.xml" Id="Rff46cb855c564abd" /><Relationship Type="http://schemas.openxmlformats.org/officeDocument/2006/relationships/slideLayout" Target="/ppt/slideLayouts/slideLayout6.xml" Id="Re8b28d4e97d4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6ef2d79ae45b7"/>
    <p:sldLayoutId xmlns:r="http://schemas.openxmlformats.org/officeDocument/2006/relationships" id="2147483650" r:id="R6d7ed9cd93e440f4"/>
    <p:sldLayoutId xmlns:r="http://schemas.openxmlformats.org/officeDocument/2006/relationships" id="2147483651" r:id="R9e45afa496604af6"/>
    <p:sldLayoutId xmlns:r="http://schemas.openxmlformats.org/officeDocument/2006/relationships" id="2147483652" r:id="R20c157cac3c3457e"/>
    <p:sldLayoutId xmlns:r="http://schemas.openxmlformats.org/officeDocument/2006/relationships" id="2147483653" r:id="Rff46cb855c564abd"/>
    <p:sldLayoutId xmlns:r="http://schemas.openxmlformats.org/officeDocument/2006/relationships" id="2147483654" r:id="Re8b28d4e97d4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84a35aaff45e1" /><Relationship Type="http://schemas.openxmlformats.org/officeDocument/2006/relationships/notesSlide" Target="/ppt/notesSlides/notesSlide1.xml" Id="Raeae2eaf0cbc47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7730621324a07" /><Relationship Type="http://schemas.openxmlformats.org/officeDocument/2006/relationships/notesSlide" Target="/ppt/notesSlides/notesSlide2.xml" Id="Rc21af6ef5f614c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5d13d5021498f" /><Relationship Type="http://schemas.openxmlformats.org/officeDocument/2006/relationships/notesSlide" Target="/ppt/notesSlides/notesSlide3.xml" Id="R4d58bfee8941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978d5d0e74516" /><Relationship Type="http://schemas.openxmlformats.org/officeDocument/2006/relationships/notesSlide" Target="/ppt/notesSlides/notesSlide4.xml" Id="R3a41a075793f44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f28c3c34c477f" /><Relationship Type="http://schemas.openxmlformats.org/officeDocument/2006/relationships/chart" Target="/ppt/slides/charts/chart1.xml" Id="R9f20b0970d5d4b2c" /><Relationship Type="http://schemas.openxmlformats.org/officeDocument/2006/relationships/notesSlide" Target="/ppt/notesSlides/notesSlide5.xml" Id="R27d80e29270142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9e4ef43564a24" /><Relationship Type="http://schemas.openxmlformats.org/officeDocument/2006/relationships/notesSlide" Target="/ppt/notesSlides/notesSlide6.xml" Id="R202bbf6e9c22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ece5d53794131" /><Relationship Type="http://schemas.openxmlformats.org/officeDocument/2006/relationships/chart" Target="/ppt/slides/charts/chart2.xml" Id="Rc5503df942584693" /><Relationship Type="http://schemas.openxmlformats.org/officeDocument/2006/relationships/notesSlide" Target="/ppt/notesSlides/notesSlide7.xml" Id="R8698d9d6cd7e4e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721eb3d614404" /><Relationship Type="http://schemas.openxmlformats.org/officeDocument/2006/relationships/notesSlide" Target="/ppt/notesSlides/notesSlide8.xml" Id="R75b2712d67e541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2b511a801425c" /><Relationship Type="http://schemas.openxmlformats.org/officeDocument/2006/relationships/notesSlide" Target="/ppt/notesSlides/notesSlide9.xml" Id="Rc240daf6cec64f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506e160454718" /><Relationship Type="http://schemas.openxmlformats.org/officeDocument/2006/relationships/notesSlide" Target="/ppt/notesSlides/notesSlide10.xml" Id="R676a4f294c0047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2e3f170604a4e" /><Relationship Type="http://schemas.openxmlformats.org/officeDocument/2006/relationships/notesSlide" Target="/ppt/notesSlides/notesSlide11.xml" Id="R968b67f3696043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73f78189b432c" /><Relationship Type="http://schemas.openxmlformats.org/officeDocument/2006/relationships/notesSlide" Target="/ppt/notesSlides/notesSlide12.xml" Id="R21db89fc7a044d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标本级宏F1 · 种子2026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344C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逐谱随机</c:v>
          </c:tx>
          <c:spPr>
            <a:solidFill xmlns:a="http://schemas.openxmlformats.org/drawingml/2006/main">
              <a:srgbClr val="A5B8C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Dummy</c:v>
                </c:pt>
                <c:pt idx="1">
                  <c:v>1NN</c:v>
                </c:pt>
                <c:pt idx="2">
                  <c:v>PCA + LR</c:v>
                </c:pt>
                <c:pt idx="3">
                  <c:v>RBF-SVC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0.1667</c:v>
                </c:pt>
                <c:pt idx="1">
                  <c:v>0.9861</c:v>
                </c:pt>
                <c:pt idx="2">
                  <c:v>0.8472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v>按标本分组</c:v>
          </c:tx>
          <c:spPr>
            <a:solidFill xmlns:a="http://schemas.openxmlformats.org/drawingml/2006/main">
              <a:srgbClr val="326A91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Dummy</c:v>
                </c:pt>
                <c:pt idx="1">
                  <c:v>1NN</c:v>
                </c:pt>
                <c:pt idx="2">
                  <c:v>PCA + LR</c:v>
                </c:pt>
                <c:pt idx="3">
                  <c:v>RBF-SVC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0.1667</c:v>
                </c:pt>
                <c:pt idx="1">
                  <c:v>0.5537</c:v>
                </c:pt>
                <c:pt idx="2">
                  <c:v>0.7352</c:v>
                </c:pt>
                <c:pt idx="3">
                  <c:v>0.8473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18个配对留出标本 · 宏F1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344C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冻结的RBF-SVC</c:v>
          </c:tx>
          <c:spPr>
            <a:solidFill xmlns:a="http://schemas.openxmlformats.org/drawingml/2006/main">
              <a:srgbClr val="326A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A：同仪器新标本</c:v>
                </c:pt>
                <c:pt idx="1">
                  <c:v>B：换仪器，同批标本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0.8364</c:v>
                </c:pt>
                <c:pt idx="1">
                  <c:v>0.2081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2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F0375-DB1B-435F-9D47-AED997B3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拉曼矿物识别中的泛化验证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AE761-A171-4EFE-80EE-331BE320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07C26-1718-4EF1-825A-B504D8C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EDAB8-FAD4-40F5-826B-FE77A6A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模型学到的是矿物特征，</a:t>
            </a:r>
          </a:p>
          <a:p xmlns:a="http://schemas.openxmlformats.org/drawingml/2006/main">
            <a:pPr>
              <a:def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还是重复扫描留下的标本身份？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84E59-6320-4540-B26D-C5587C1C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方案一 · 可复现的三类光谱教学实验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5950A-5634-46AF-84EA-0522C820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石英 / 方解石 / 石膏　｜　全部数据为模拟</a:t>
            </a:r>
          </a:p>
        </p:txBody>
      </p:sp>
    </p:spTree>
    <p:extLst>
      <p:ext uri="{BB962C8B-B14F-4D97-AF65-F5344CB8AC3E}">
        <p14:creationId xmlns:p14="http://schemas.microsoft.com/office/powerpoint/2010/main" val="590627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AC7F2-DEBB-4F21-A2AD-506B7DD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本专题覆盖整章机器学习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37E18-7317-4CD2-AD7B-AA699A9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3F77C-866C-4376-8BF4-9B55F658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7DDA8-3572-482A-B7D3-30E1BDDBBC66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619500"/>
                <a:gridCol w="4400550"/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能增加什么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需要检查什么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PLS / Ridge / Elastic Net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低维线性关系与系数收缩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共线性、变量尺度、选择稳定性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SVM / SVR / 高斯过程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核映射与局部非线性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C、γ、核假设与小样本方差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随机森林 / 梯度提升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非线性交互与分段关系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早停、分组验证与重要性偏差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27432-412C-448A-91C0-491AFF2D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统一评价框架：任务定义 → 验证边界 → 指标、概率与解释</a:t>
            </a:r>
          </a:p>
        </p:txBody>
      </p:sp>
    </p:spTree>
    <p:extLst>
      <p:ext uri="{BB962C8B-B14F-4D97-AF65-F5344CB8AC3E}">
        <p14:creationId xmlns:p14="http://schemas.microsoft.com/office/powerpoint/2010/main" val="874965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7CD56-0251-462D-B0DF-092FF62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90个标本，540条模拟谱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B44FC-03F2-4F26-B03B-1CE12A99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24051-E13F-4447-B0F5-E18F102C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1D919-000D-40C3-9630-D06DA0C57E64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143250"/>
                <a:gridCol w="4495800"/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物理标本数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仪器与扫描数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开发与交叉验证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仅A：216条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最终配对留出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A：54条；B：54条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未使用的开发B谱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同一批72个开发标本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B：216条，完全排除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84A0-32F0-4CC8-9B72-0DB6A2A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目标：识别未见物理标本，并检查同批新标本换仪器后的表现。</a:t>
            </a:r>
          </a:p>
        </p:txBody>
      </p:sp>
    </p:spTree>
    <p:extLst>
      <p:ext uri="{BB962C8B-B14F-4D97-AF65-F5344CB8AC3E}">
        <p14:creationId xmlns:p14="http://schemas.microsoft.com/office/powerpoint/2010/main" val="1546784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0AE11-16FB-4423-8099-E692CD8F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验证边界与选模顺序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803E9-EDCD-45EB-9378-7FA7E8C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308C-9868-4C12-A488-5D53FEC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8350E-73C3-434E-BF64-E70B705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开发集：72个标本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8A1D2-E395-4C29-86A5-9E658DE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逐谱随机划分作为泄漏反例；按标本分组结果用于选择候选。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80C00-B0E7-434F-93FA-98AA6352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每个训练折内拟合完整Pipeline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8FEF2-9893-4291-B389-917BCD8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标准化、PCA与分类器均不得提前使用验证折。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0FD26-B438-4BAE-B766-5308E45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流程冻结后评估18个留出标本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0FB19-EC39-4687-A789-FA4A5E1C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在A与B上配对预测；B结果不反向修改当前选择。</a:t>
            </a:r>
          </a:p>
        </p:txBody>
      </p:sp>
    </p:spTree>
    <p:extLst>
      <p:ext uri="{BB962C8B-B14F-4D97-AF65-F5344CB8AC3E}">
        <p14:creationId xmlns:p14="http://schemas.microsoft.com/office/powerpoint/2010/main" val="688449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0D07D-4D69-44C8-9E48-CE68FD32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逐谱随机划分抬高了本例分数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75BA-F334-4E19-818E-8BC0E43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73B08-8A6D-421F-8B72-A74E40C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9D1776C-55E3-4D55-989B-530F80A657BE}"/>
              </a:ext>
            </a:extLst>
          </p:cNvPr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20b0970d5d4b2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EE37B-4B2C-4D43-AA7D-070A2EE2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1NN：0.9861 → 0.5537。分组划分改变了“预测新对象”的难度。</a:t>
            </a:r>
          </a:p>
        </p:txBody>
      </p:sp>
    </p:spTree>
    <p:extLst>
      <p:ext uri="{BB962C8B-B14F-4D97-AF65-F5344CB8AC3E}">
        <p14:creationId xmlns:p14="http://schemas.microsoft.com/office/powerpoint/2010/main" val="720352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94E89-6942-4EE7-909A-8E85B42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随机标签负对照揭示身份泄漏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3513B-E531-4B52-A322-3F61113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B3562-7CA4-4288-9F1B-7631E4DC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EBB3A-2A84-401A-BFFC-113AB0F5844E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857500"/>
                <a:gridCol w="430530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1NN验证方式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199次均值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2.5%—97.5%分位数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逐谱随机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0.9818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0.9719—1.0000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按标本分组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0.3335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0.2221—0.4583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059E-7543-43DA-86AA-71925EE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标签已经不含矿物类别信息，逐谱随机依然接近满分。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B4884-85F2-4053-92CF-D72383C0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反例说明重复扫描可以暴露标本身份；一次随机标签结果不足以概括随机性。</a:t>
            </a:r>
          </a:p>
        </p:txBody>
      </p:sp>
    </p:spTree>
    <p:extLst>
      <p:ext uri="{BB962C8B-B14F-4D97-AF65-F5344CB8AC3E}">
        <p14:creationId xmlns:p14="http://schemas.microsoft.com/office/powerpoint/2010/main" val="1814637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154C-5770-4DC3-B7D1-F22DA2D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同一批新标本换仪器后性能下降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DC5B0-CAA9-46D7-8AEE-DBEF110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6C683-8F3F-425B-ABE6-4A9C5BC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4F7C402-76B1-410C-956F-575E70420C75}"/>
              </a:ext>
            </a:extLst>
          </p:cNvPr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503df94258469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314A-611E-4B58-8FDF-D3F31A6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0.8364 → 0.2081：在标本层面分组，仍不能保证跨仪器有效。</a:t>
            </a:r>
          </a:p>
        </p:txBody>
      </p:sp>
    </p:spTree>
    <p:extLst>
      <p:ext uri="{BB962C8B-B14F-4D97-AF65-F5344CB8AC3E}">
        <p14:creationId xmlns:p14="http://schemas.microsoft.com/office/powerpoint/2010/main" val="2021875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1D40E-B91D-408B-BEAD-91F72EB2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预处理改善了固定模拟条件下的表现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8AFA9-C710-4DA2-8C53-902CB362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EFF1A-1F3C-4F32-AF13-CA34EE2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79497-1584-4C3C-A977-23D08727853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190750"/>
                <a:gridCol w="2190750"/>
                <a:gridCol w="2209800"/>
              </a:tblGrid>
              <a:tr h="889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五种子均值宏F1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开发分组CV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A留出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B留出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原始标准化 + SVC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0.8916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0.9128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0.2783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arPLS + L2 + SVC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0.9972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0.9888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04E57-3A78-4738-AC6A-ECA77A9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组合处理改变基线与强度尺度，没有进行波数轴校准。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B488A-207D-47A2-AFB3-993BF4CB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高分受简单三分类模拟条件限制；不能归因于单一步骤，也不是实测迁移证据。</a:t>
            </a:r>
          </a:p>
        </p:txBody>
      </p:sp>
    </p:spTree>
    <p:extLst>
      <p:ext uri="{BB962C8B-B14F-4D97-AF65-F5344CB8AC3E}">
        <p14:creationId xmlns:p14="http://schemas.microsoft.com/office/powerpoint/2010/main" val="1517231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A93AA-BF85-4B86-A85D-33245F0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概率校准与阈值选择也需要独立边界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4853B-7F79-424B-BA37-1E1F3AF3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A1AA5-CF63-428E-83FF-3A3C97A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8FA21-3FD9-4228-B576-6904EBB96C4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429250"/>
                <a:gridCol w="230505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职责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样本量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T w="9525">
                      <a:solidFill>
                        <a:srgbClr val="CCD6DE"/>
                      </a:solidFill>
                      <a:prstDash val="solid"/>
                    </a:lnT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15344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拟合集 / 校准集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拟合分类器 / 拟合sigmoid校准器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1440 / 480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阈值验证集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按照预定误判代价选择阈值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最终测试集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E"/>
                      </a:solidFill>
                      <a:prstDash val="solid"/>
                    </a:lnL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冻结后报告概率与决策表现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E"/>
                      </a:solidFill>
                      <a:prstDash val="solid"/>
                    </a:lnR>
                    <a:lnB w="9525">
                      <a:solidFill>
                        <a:srgbClr val="CCD6DE"/>
                      </a:solidFill>
                      <a:prstDash val="soli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20347-6F8D-4946-B961-9A8A263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本例测试Brier：0.069738 → 0.069828，略变差。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58DA0-B021-45C2-8D8A-C05F56E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校准并不保证每次改善；Brier也同时受区分能力和数据不确定性影响。</a:t>
            </a:r>
          </a:p>
        </p:txBody>
      </p:sp>
    </p:spTree>
    <p:extLst>
      <p:ext uri="{BB962C8B-B14F-4D97-AF65-F5344CB8AC3E}">
        <p14:creationId xmlns:p14="http://schemas.microsoft.com/office/powerpoint/2010/main" val="383282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49C49-462B-4391-85B9-CD7D1FA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近年前沿为本章补充了什么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5CEC5-DAB9-4EFA-95ED-F72E36C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B4854-55B5-422F-91BC-0066A37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360D-D58D-40ED-B14E-37BED16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REFORMS（2024）：报告规范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F2E03-09E2-4C18-8884-E20A54C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把依赖关系、分析步骤与复现信息显式报告；清单本身不能保证设计正确。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FDE0-5E81-4E18-AAA4-44DCA0BB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拉曼验证比较（2025）：划分影响排名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E714-5A1B-4A54-B8B7-CEB4529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不同验证策略影响估计；具体数据集结论不能替代部署场景判断。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C59FA-B018-489B-8EEC-88BE84F6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TabPFN（2025）：表格基础模型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1DC23-95D3-489B-B536-8B0C1F8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预训练先验提供新基线；不能默认适用于高维原始拉曼谱或跨仪器场景。</a:t>
            </a:r>
          </a:p>
        </p:txBody>
      </p:sp>
    </p:spTree>
    <p:extLst>
      <p:ext uri="{BB962C8B-B14F-4D97-AF65-F5344CB8AC3E}">
        <p14:creationId xmlns:p14="http://schemas.microsoft.com/office/powerpoint/2010/main" val="2114727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CBC1E-E069-4AFE-A756-0DA5A52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课堂演示与传承题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C023A-4513-4671-8666-5752850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95EE4-4BB0-48D5-9E42-149D65A9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FB47F-3B90-4F42-9FEE-FF1DA59F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现场演示：切换逐谱与分组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A99FF-348E-4134-84FB-DE7983F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观察训练/验证共享标本数、红框以及全部四折的标本级混淆矩阵。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18C2E-223E-4BCE-989E-F005C01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继续切换仪器与处理流程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D783-CBCE-4E38-8E34-7B782B61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比较A/B，查看五个种子的全部结果；数值来自已保存的预测文件。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2CA1-FFF2-40BA-812A-4392BB42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传承题：投票能否消除泄漏？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0F5F2-B9C5-4617-BAF3-9C9C940A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不能。把折外扫描聚合为标本预测，不会改变训练时的信息边界。</a:t>
            </a:r>
          </a:p>
        </p:txBody>
      </p:sp>
    </p:spTree>
    <p:extLst>
      <p:ext uri="{BB962C8B-B14F-4D97-AF65-F5344CB8AC3E}">
        <p14:creationId xmlns:p14="http://schemas.microsoft.com/office/powerpoint/2010/main" val="362698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0AD98-8D8A-47F4-AB54-8DB9B6A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当前结论与下一步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2598A-C4F3-4043-AEDE-4C81E0C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G04 · 第4章机器学习 · 教学模拟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50457-5486-4C55-9674-8FBE200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56A79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4F85F-CB24-433B-AA1C-18F5EB3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已得到的证据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860AC-EFAC-4DF5-8845-636E3FA1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在本模拟中，重复谱泄漏可夸大分数；分组评价与域外评价回答不同问题。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38928-9233-4CAE-9BCE-39A53889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目前的限制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F4D58-7623-4CB1-8E61-AAA7A251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只有三类、简化谱形与有限标本；未使用实测RRUFF数据，不能报告真实识别率。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BEC77-0F08-42A7-BA34-506C29AD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26A91"/>
                </a:solidFill>
                <a:latin typeface="Noto Sans CJK SC"/>
                <a:ea typeface="Noto Sans CJK SC"/>
                <a:cs typeface="Noto Sans CJK SC"/>
              </a:rPr>
              <a:t>真实实验的进入条件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337E3-B584-43F4-A91C-B6380DA2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5344C"/>
                </a:solidFill>
                <a:latin typeface="Noto Sans CJK SC"/>
                <a:ea typeface="Noto Sans CJK SC"/>
                <a:cs typeface="Noto Sans CJK SC"/>
              </a:rPr>
              <a:t>取得独立标本和配对仪器数据，记录来源与测量条件，再冻结新的验证方案。</a:t>
            </a:r>
          </a:p>
        </p:txBody>
      </p:sp>
    </p:spTree>
    <p:extLst>
      <p:ext uri="{BB962C8B-B14F-4D97-AF65-F5344CB8AC3E}">
        <p14:creationId xmlns:p14="http://schemas.microsoft.com/office/powerpoint/2010/main" val="1339459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2026-10-23T16:15:59.8420000Z</dcterms:created>
  <dcterms:modified xsi:type="dcterms:W3CDTF">2026-10-23T16:15:59.8420000Z</dcterms:modified>
</coreProperties>
</file>