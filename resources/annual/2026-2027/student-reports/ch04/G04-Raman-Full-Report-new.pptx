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f499cc94d854a94" Type="http://schemas.openxmlformats.org/officeDocument/2006/relationships/extended-properties" Target="docProps/app.xml"/><Relationship Id="R60daf4b57fbf4515" Type="http://schemas.openxmlformats.org/package/2006/relationships/metadata/core-properties" Target="docProps/core.xml"/><Relationship Id="Rbbcbf91097d04ed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27507512924340"/>
  </p:sldMasterIdLst>
  <p:notesMasterIdLst>
    <p:notesMasterId xmlns:r="http://schemas.openxmlformats.org/officeDocument/2006/relationships" r:id="R84c854f826d8477f"/>
  </p:notesMasterIdLst>
  <p:sldIdLst>
    <p:sldId xmlns:ns0="http://schemas.openxmlformats.org/officeDocument/2006/relationships" id="256" ns0:id="rId6"/>
    <p:sldId xmlns:ns0="http://schemas.openxmlformats.org/officeDocument/2006/relationships" id="257" ns0:id="rId7"/>
    <p:sldId xmlns:ns0="http://schemas.openxmlformats.org/officeDocument/2006/relationships" id="258" ns0:id="rId8"/>
    <p:sldId xmlns:ns0="http://schemas.openxmlformats.org/officeDocument/2006/relationships" id="259" ns0:id="rId9"/>
    <p:sldId xmlns:ns0="http://schemas.openxmlformats.org/officeDocument/2006/relationships" id="260" ns0:id="rId10"/>
    <p:sldId xmlns:ns0="http://schemas.openxmlformats.org/officeDocument/2006/relationships" id="261" ns0:id="rId11"/>
    <p:sldId xmlns:ns0="http://schemas.openxmlformats.org/officeDocument/2006/relationships" id="262" ns0:id="rId12"/>
    <p:sldId xmlns:ns0="http://schemas.openxmlformats.org/officeDocument/2006/relationships" id="263" ns0:id="rId13"/>
    <p:sldId xmlns:ns0="http://schemas.openxmlformats.org/officeDocument/2006/relationships" id="264" ns0:id="rId14"/>
    <p:sldId xmlns:ns0="http://schemas.openxmlformats.org/officeDocument/2006/relationships" id="265" ns0:id="rId15"/>
    <p:sldId xmlns:ns0="http://schemas.openxmlformats.org/officeDocument/2006/relationships" id="266" ns0:id="rId16"/>
    <p:sldId xmlns:ns0="http://schemas.openxmlformats.org/officeDocument/2006/relationships" id="267" ns0:id="rId17"/>
    <p:sldId xmlns:ns0="http://schemas.openxmlformats.org/officeDocument/2006/relationships" id="268" ns0:id="rId18"/>
    <p:sldId xmlns:ns0="http://schemas.openxmlformats.org/officeDocument/2006/relationships" id="269" ns0:id="rId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4ef371142b6443e0" Type="http://schemas.openxmlformats.org/officeDocument/2006/relationships/tableStyles" Target="tableStyles.xml"/><Relationship Id="R84c854f826d8477f" Type="http://schemas.openxmlformats.org/officeDocument/2006/relationships/notesMaster" Target="notesMasters/notesMaster1.xml"/><Relationship Id="Rc14badef7ff84822" Type="http://schemas.openxmlformats.org/officeDocument/2006/relationships/presProps" Target="presProps.xml"/><Relationship Id="Rc427507512924340" Type="http://schemas.openxmlformats.org/officeDocument/2006/relationships/slideMaster" Target="slideMasters/slideMaster1.xml"/><Relationship Id="Rf0660c61f2244b46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5231c1d262ea47d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【本讲稿逐字照念；方括号内为动作提示，不要念出来。全程约 12 分钟。】</a:t>
            </a:r>
          </a:p>
          <a:p>
            <a:r>
              <a:t>各位老师、同学好，我们是 G04 组。我们汇报的题目是：全量 RRUFF 实测拉曼光谱的矿物分类，重点是基于按标本分组的五折验证，对几种方法进行比较。【翻页】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汇报分为六个部分：研究背景与问题、数据与预处理、验证设计与方法、结果、误差分析与讨论，最后是结论与展望。【翻页】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首先是研究背景。拉曼光谱反映分子和晶格的振动，不同矿物的峰位和峰形不同，因此可以作为矿物的“指纹”。</a:t>
            </a:r>
          </a:p>
          <a:p>
            <a:r>
              <a:t>【指向图 1】图 1 是石英、方解石和石膏在本研究所用波段内的代表性光谱，三者的特征峰位置明显不同。</a:t>
            </a:r>
          </a:p>
          <a:p>
            <a:r>
              <a:t>【指向左侧文字】我们使用的数据来自 RRUFF 数据库，它的特点是每条光谱都对应一个有编号的实物标本。</a:t>
            </a:r>
          </a:p>
          <a:p>
            <a:r>
              <a:t>在前期的三类案例中，我们只用了 52 条谱、22 个标本，三种方法的正确率都是百分之百，无法比较方法的优劣。</a:t>
            </a:r>
          </a:p>
          <a:p>
            <a:r>
              <a:t>因此，本研究的问题是：当类别扩展到整个数据库时，模型能否识别训练中没有出现过的标本。【翻页】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第二部分是数据。【指向表格】DTU 存档中共有 5,228 条谱，来自 2,858 个标本、1,674 种矿物。我们逐条审查后，隔离了 10 条标签冲突的记录，例如同一标本编号对应两个矿物名。剩下 5,218 条谱、1,669 种矿物用于训练。</a:t>
            </a:r>
          </a:p>
          <a:p>
            <a:r>
              <a:t>【指向图 2】图 2 是每种矿物拥有的独立标本数。灰色柱表示只有一个标本的矿物，共 1,063 种。这些矿物无法检验“识别新标本”的能力，所以只放在参考库中，不参与评分。</a:t>
            </a:r>
          </a:p>
          <a:p>
            <a:r>
              <a:t>【指向表格最后两行】真正可以验证的是 606 种矿物、1,789 个验证组。【翻页】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接下来是预处理。【指向图 3】图 3 的横轴是拉曼位移，纵轴是覆盖这一位移的光谱比例。不同光谱的测量范围差别很大，只有中间一段被全部光谱覆盖。为了不外推、不补造数据，我们只取所有光谱共同覆盖的 304 到 852 波数这一段，也就是阴影部分。</a:t>
            </a:r>
          </a:p>
          <a:p>
            <a:r>
              <a:t>【指向右侧文字】在这个区间内，我们按 2 个波数的间隔线性插值，得到 275 个变量，再对每条光谱做 L2 归一化。代价是区间以外的峰没有被利用，例如方解石在 1086 波数附近的主峰。【翻页】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是验证设计，这是本研究的核心。【指向上方五个方框】我们把同一个标本的全部光谱作为一个验证组，整组只能出现在训练侧或验证侧，不会拆开。如果两个不同编号的标本光谱完全相同，也合并为一组。</a:t>
            </a:r>
          </a:p>
          <a:p>
            <a:r>
              <a:t>验证组按类别均衡地分配到五个折中，每一轮留出一折作为验证，其余四折用于训练。被留出的矿物，在训练侧都还有同种矿物的其他标本。</a:t>
            </a:r>
          </a:p>
          <a:p>
            <a:r>
              <a:t>【指向下方灰色长条】只有一个标本的 1,063 种矿物，每一轮都只在训练侧。</a:t>
            </a:r>
          </a:p>
          <a:p>
            <a:r>
              <a:t>【指向右侧文字】另外，标准化和主成分分析都只在训练折内拟合；每个验证组内的光谱多数投票，得到一个预测；所有超参数事先固定，没有根据验证结果调整。这样做是为了避免数据泄漏 [5]。【翻页】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我们比较了四种方法。【指向表格】多数类基线不使用光谱，总是预测训练集中最常见的矿物，用来给出性能下限。余弦一近邻，寻找与待测光谱余弦距离最小的训练光谱，沿用它的标签。PCA 加逻辑回归，先降到 8 个主成分，再做逻辑回归。RBF 核支持向量机，惩罚系数 C 取 10。所有方法都用 scikit-learn 实现 [3]。</a:t>
            </a:r>
          </a:p>
          <a:p>
            <a:r>
              <a:t>【指向下方】评价指标有三个：组级正确率；宏平均 F1，也就是 606 个类别等权平均；以及平衡准确率。【翻页】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第四部分是结果。【指向表格】余弦一近邻的组级正确率是 70.0%，RBF 支持向量机是 71.1%，PCA 加逻辑回归是 46.9%，多数类基线只有 1.1%。</a:t>
            </a:r>
          </a:p>
          <a:p>
            <a:r>
              <a:t>【指向图 4】图 4 中，柱子是合并全部验证组的结果，圆点是每一折的结果。余弦近邻各折在 68.5% 到 71.2% 之间，支持向量机在 66.6% 到 73.8% 之间。两者相差约一个百分点，小于折间波动，我们也没有做显著性检验，因此只能认为两者性能相当。另外，两种方法在 87% 的验证组上给出相同的预测。</a:t>
            </a:r>
          </a:p>
          <a:p>
            <a:r>
              <a:t>PCA 加逻辑回归明显落后，我们认为主要原因是只保留 8 维，对上千个类别而言信息损失过大。【翻页】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【指向图 5】图 5 按矿物拥有的独立标本数分组，纵轴是正确率，误差线是 95% 的 Wilson 置信区间 [4]，横轴下方标出了每组的验证组数。</a:t>
            </a:r>
          </a:p>
          <a:p>
            <a:r>
              <a:t>只有 2 个标本时，训练侧只有 1 个同类标本可参考，余弦近邻正确率为 64%，支持向量机为 61%。标本数达到 6 个及以上时，分别升至 81% 和 85%。</a:t>
            </a:r>
          </a:p>
          <a:p>
            <a:r>
              <a:t>【指向右侧文字】这说明，在当前数据下，每种矿物的标本覆盖程度是限制性能的主要因素。【翻页】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第五部分是误差分析。【指向右侧表格】表中列出了余弦近邻最常见的混淆。排在前面的几乎都是同一固溶体系列或同一矿物族的矿物，例如锂磷铝石与羟磷锂铝石、镁铝榴石与铁铝榴石。</a:t>
            </a:r>
          </a:p>
          <a:p>
            <a:r>
              <a:t>【指向图 6】图 6 是其中两对矿物的平均光谱。两条曲线的主要峰位基本重合，差别主要在相对强度和个别峰的位置上。这类矿物结构相同，只是部分离子发生替换，仅凭这一段拉曼光谱很难区分，需要结合化学成分等信息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下面是讨论与局限。【指向左栏】主要发现有三点：第一，最简单的余弦近邻与支持向量机性能相当；第二，误差集中在同族矿物之间；第三，【指向图 7】余弦近邻的 536 个错误中，有 237 个，也就是 44%，被判为只有一个标本的矿物，说明这些无法验证的类别同样会参与竞争。</a:t>
            </a:r>
          </a:p>
          <a:p>
            <a:r>
              <a:t>【指向右栏】本研究也有四点局限：第一，1,063 种单标本矿物没有验证分数；第二，共同区间以外的光谱信息没有使用；第三，这是数据库内部验证，没有跨实验室、跨仪器的外部测试，而已有研究指出，验证方式会改变模型的排序；第四，方法之间的差异没有做显著性检验。【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【提前在浏览器打开两个页面：assets/interactive/ch04-full.html 和 assets/interactive/ch04.html。】</a:t>
            </a:r>
          </a:p>
          <a:p>
            <a:r>
              <a:t>下面用交互页面演示两个具体例子。【切换到 ch04-full.html，不要动任何下拉框】</a:t>
            </a:r>
          </a:p>
          <a:p>
            <a:r>
              <a:t>第一个例子。页面默认选中石英，模型是余弦近邻。【指向“预测”那一行】这是石英标本 R040031 用 514 纳米激光测得的光谱。页面显示，余弦近邻预测为 Sodalite，即方钠石，与参考标签不一致，也就是说，单看这一条光谱，模型判错了。</a:t>
            </a:r>
          </a:p>
          <a:p>
            <a:r>
              <a:t>【在“实测光谱”下拉框选第二项，532 nm】换成同一标本 532 纳米的光谱，预测为 Quartz，正确。【再选第三项，780 nm】780 纳米的光谱也预测正确。该标本三条光谱中两条正确，投票结果为石英。这说明了按标本投票计分的作用。</a:t>
            </a:r>
          </a:p>
          <a:p>
            <a:r>
              <a:t>【在“固定模型”下拉框选“多数类基线”】换成多数类基线，它预测 Grossular，即钙铝榴石，因为这是训练集中最常见的矿物。</a:t>
            </a:r>
          </a:p>
          <a:p>
            <a:r>
              <a:t>【在“矿物类别”下拉框选第一项 Abelsonite】第二个例子是卟啉镍石，它只有一个标本。页面显示：本类别只有一个验证组，本谱只参与训练，没有验证预测。这就是前面所说的参考库。</a:t>
            </a:r>
          </a:p>
          <a:p>
            <a:r>
              <a:t>【切换到 ch04.html】最后，这个页面用模拟数据说明为什么要按标本划分。【“划分方式”选“逐谱随机划分（反例）”，“验证折”选 1】如果把光谱随机打乱划分，第 1 折中训练和验证两侧共享了 44 个标本，同一标本同时出现在训练和验证中，这就是数据泄漏。【“划分方式”改选“按物理标本分组”】按标本分组后，共享标本数为 0。这一页是模拟数据，不计入实测结果。</a:t>
            </a:r>
          </a:p>
          <a:p>
            <a:r>
              <a:t>【如果网页打不开：不做操作，指着本页右侧三个方框，依次念出每个方框的内容】</a:t>
            </a:r>
          </a:p>
          <a:p>
            <a:r>
              <a:t>【切回 PPT，翻页】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最后是结论。【逐条指向】第一，在 606 类、1,789 个验证组的按标本分组验证中，最好的组级正确率约为 71%。第二，余弦一近邻与 RBF 支持向量机性能相当，误差主要来自同族和固溶体矿物。第三，正确率随每类独立标本数增加而提高，数据覆盖是当前的主要限制。</a:t>
            </a:r>
          </a:p>
          <a:p>
            <a:r>
              <a:t>【指向展望】下一步，一是为同一矿物收集更多不同产地的标本；二是补充跨实验室、跨仪器的外部验证，并按照 REFORMS 规范报告；三是尝试 TabPFN 等新的基线方法。</a:t>
            </a:r>
          </a:p>
          <a:p>
            <a:r>
              <a:t>我们的汇报到此结束，谢谢各位老师和同学，欢迎提问。【翻到参考文献页，停留等待提问】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【本页在提问环节保持显示。以下是可能被问到的问题和回答，被问到时照念对应的回答。】</a:t>
            </a:r>
          </a:p>
          <a:p>
            <a:r>
              <a:t>问：SVM 的正确率更高，为什么说两者相当？</a:t>
            </a:r>
          </a:p>
          <a:p>
            <a:r>
              <a:t>答：两者只差约一个百分点；而同一种方法在不同折之间，正确率就相差 3 到 7 个百分点。差距在波动范围之内，我们也没有做显著性检验，所以不能说谁更好。</a:t>
            </a:r>
          </a:p>
          <a:p>
            <a:r>
              <a:t>问：为什么只用 304 到 852 这一段波数？</a:t>
            </a:r>
          </a:p>
          <a:p>
            <a:r>
              <a:t>答：不同光谱的测量范围不一样，304 到 852 是所有光谱都完整覆盖的共同区间。我们没有外推，也没有补造缺失的数据。</a:t>
            </a:r>
          </a:p>
          <a:p>
            <a:r>
              <a:t>问：只有一个标本的矿物为什么不计分？</a:t>
            </a:r>
          </a:p>
          <a:p>
            <a:r>
              <a:t>答：我们要检验的是模型能否识别没有见过的标本。只有一个标本的矿物，把它留出验证后，训练侧就没有同种矿物了，无法检验。</a:t>
            </a:r>
          </a:p>
          <a:p>
            <a:r>
              <a:t>问：为什么不调参？</a:t>
            </a:r>
          </a:p>
          <a:p>
            <a:r>
              <a:t>答：参数事先固定，是为了避免根据验证成绩选择参数，导致成绩偏高。</a:t>
            </a:r>
          </a:p>
          <a:p>
            <a:r>
              <a:t>问：为什么不用更复杂的模型？</a:t>
            </a:r>
          </a:p>
          <a:p>
            <a:r>
              <a:t>答：本研究的目标是先在按标本验证的规则下给出可信的基线结果。结果表明，瓶颈主要在每种矿物的标本数量，更复杂的模型不一定能解决。</a:t>
            </a:r>
          </a:p>
          <a:p>
            <a:r>
              <a:t>问：被问到不会的问题时</a:t>
            </a:r>
          </a:p>
          <a:p>
            <a:r>
              <a:t>答：这个问题我们这次没有研究，会后查证后再回复您。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80c98aed7d1e46ab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7d6e26ec9fc3472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7ce66279709749a7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ce387e0a2c63443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fc45d7248074d2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005a7923f63f4f6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FDD9AB-9BEB-4EEB-82AC-2D378CD6B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C45AA7-A865-4283-987D-D86C78C40A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6DCD6C-78ED-408D-B652-342DB746E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F7C9D1-2910-4860-921F-F7FCE1250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8B02A5-E0FE-43DE-A3EC-17252EBCC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9A28F8-CDCC-4624-B8F9-94195A264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4F2E87-3D51-4FD0-9119-7BFC1C44C9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65030E-0D5E-4E61-8810-5FFE8E339C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F311FD-DABF-49DC-86F5-FE11984DA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BD22ED-9CCB-4C72-9ED5-2B5072CA0B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4d4d2df5c8a47b4" Type="http://schemas.openxmlformats.org/officeDocument/2006/relationships/slideLayout" Target="../slideLayouts/slideLayout4.xml"/><Relationship Id="R4e3cf351647a494f" Type="http://schemas.openxmlformats.org/officeDocument/2006/relationships/slideLayout" Target="../slideLayouts/slideLayout1.xml"/><Relationship Id="R6ee6a548ddf64e39" Type="http://schemas.openxmlformats.org/officeDocument/2006/relationships/slideLayout" Target="../slideLayouts/slideLayout6.xml"/><Relationship Id="Re05e4a3775884c8f" Type="http://schemas.openxmlformats.org/officeDocument/2006/relationships/slideLayout" Target="../slideLayouts/slideLayout5.xml"/><Relationship Id="Re9ffdf3d8202494c" Type="http://schemas.openxmlformats.org/officeDocument/2006/relationships/slideLayout" Target="../slideLayouts/slideLayout2.xml"/><Relationship Id="Rf050ac05af5141f1" Type="http://schemas.openxmlformats.org/officeDocument/2006/relationships/slideLayout" Target="../slideLayouts/slideLayout3.xml"/><Relationship Id="Rf41b9965de97482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cf351647a494f"/>
    <p:sldLayoutId xmlns:r="http://schemas.openxmlformats.org/officeDocument/2006/relationships" id="2147483650" r:id="Re9ffdf3d8202494c"/>
    <p:sldLayoutId xmlns:r="http://schemas.openxmlformats.org/officeDocument/2006/relationships" id="2147483651" r:id="Rf050ac05af5141f1"/>
    <p:sldLayoutId xmlns:r="http://schemas.openxmlformats.org/officeDocument/2006/relationships" id="2147483652" r:id="R04d4d2df5c8a47b4"/>
    <p:sldLayoutId xmlns:r="http://schemas.openxmlformats.org/officeDocument/2006/relationships" id="2147483653" r:id="Re05e4a3775884c8f"/>
    <p:sldLayoutId xmlns:r="http://schemas.openxmlformats.org/officeDocument/2006/relationships" id="2147483654" r:id="R6ee6a548ddf64e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5E4D9"/>
                </a:solidFill>
                <a:latin typeface="Noto Sans CJK SC"/>
                <a:ea typeface="Noto Sans CJK SC"/>
                <a:cs typeface="Noto Sans CJK SC"/>
              </a:rPr>
              <a:t>人工智能化学分析 · 第 4 章 机器学习 · 小组汇报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全量 RRUFF 实测拉曼光谱的矿物分类</a:t>
            </a:r>
          </a:p>
          <a:p>
            <a:pPr algn="l">
              <a:spcAft>
                <a:spcPts val="1400"/>
              </a:spcAft>
            </a:pPr>
            <a:r>
              <a:rPr sz="2400" b="0">
                <a:solidFill>
                  <a:srgbClr val="D5E4D9"/>
                </a:solidFill>
                <a:latin typeface="Noto Sans CJK SC"/>
                <a:ea typeface="Noto Sans CJK SC"/>
                <a:cs typeface="Noto Sans CJK SC"/>
              </a:rPr>
              <a:t>基于按标本分组五折验证的方法比较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G04 组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汇报人：________________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2026–2027 学年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目录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868680" cy="86868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783080"/>
            <a:ext cx="4206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研究背景与问题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868680" cy="86868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154680"/>
            <a:ext cx="4206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数据与预处理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26280"/>
            <a:ext cx="868680" cy="86868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526280"/>
            <a:ext cx="4206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验证设计与方法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783080"/>
            <a:ext cx="868680" cy="86868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783080"/>
            <a:ext cx="4206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154680"/>
            <a:ext cx="868680" cy="86868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154680"/>
            <a:ext cx="4206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误差分析与讨论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526280"/>
            <a:ext cx="868680" cy="86868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52628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526280"/>
            <a:ext cx="4206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01  研究背景与问题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研究背景与问题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0"/>
              </a:spcAft>
              <a:buChar char="•"/>
            </a:pP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拉曼光谱反映分子与晶格振动，峰位和峰形可作为矿物“指纹”</a:t>
            </a:r>
          </a:p>
          <a:p>
            <a:pPr algn="l" marL="219456" indent="-219456">
              <a:spcAft>
                <a:spcPts val="1000"/>
              </a:spcAft>
              <a:buChar char="•"/>
            </a:pP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RRUFF 数据库：每条光谱对应一个有编号的实物标本 [1]</a:t>
            </a:r>
          </a:p>
          <a:p>
            <a:pPr algn="l" marL="219456" indent="-219456">
              <a:spcAft>
                <a:spcPts val="1000"/>
              </a:spcAft>
              <a:buChar char="•"/>
            </a:pP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前期三类案例（52 条谱、22 个标本）：三种方法正确率均为 100%，无法区分方法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5212080" cy="141732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81728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类别扩展至全库后，模型能否识别训练中未出现的标本？</a:t>
            </a:r>
          </a:p>
        </p:txBody>
      </p:sp>
      <p:pic>
        <p:nvPicPr>
          <p:cNvPr id="11" name="Picture 10" descr="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63040"/>
            <a:ext cx="5440680" cy="44245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5960695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图 1  三种矿物的代表性拉曼光谱（532 nm 激发，304–852 cm⁻¹）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02  数据与预处理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数据来源与质量审查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光谱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标本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矿物种类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来源存档 [2]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5,228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2,858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1,674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隔离（标签冲突）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用于训练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5,218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2,853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1,669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可验证（≥2 个标本）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3,419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1,790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606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仅作参考库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1,799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1,063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1,063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2628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可验证部分共 1,789 个验证组；相同输入的跨标本谱合并为一组。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数据：DTU 存档 v1（CC BY 4.0），原始来源 RRUFF [1, 2]。</a:t>
            </a:r>
          </a:p>
        </p:txBody>
      </p:sp>
      <p:pic>
        <p:nvPicPr>
          <p:cNvPr id="10" name="Picture 9" descr="support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63040"/>
            <a:ext cx="5532120" cy="38895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5425757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图 2  每种矿物拥有的独立标本数（共 1,669 种）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02  数据与预处理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光谱预处理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pic>
        <p:nvPicPr>
          <p:cNvPr id="8" name="Picture 7" descr="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760720" cy="40284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64635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图 3  5,218 条可用光谱对各拉曼位移的覆盖比例；阴影为共同覆盖区间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45920"/>
            <a:ext cx="48920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200"/>
              </a:spcAft>
              <a:buChar char="•"/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共同覆盖区间：</a:t>
            </a: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304–852 cm⁻¹，所有光谱均完整覆盖，不外推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插值：</a:t>
            </a: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2 cm⁻¹ 间隔线性插值，共 275 个变量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归一化：</a:t>
            </a: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逐谱 L2 归一化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激发波长：</a:t>
            </a: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532 / 780 / 785 / 514 nm（2,573 / 1,536 / 720 / 389 条）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700" b="1">
                <a:solidFill>
                  <a:srgbClr val="B8642A"/>
                </a:solidFill>
                <a:latin typeface="Noto Sans CJK SC"/>
                <a:ea typeface="Noto Sans CJK SC"/>
                <a:cs typeface="Noto Sans CJK SC"/>
              </a:rPr>
              <a:t>代价：</a:t>
            </a:r>
            <a:r>
              <a:rPr sz="17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区间外的峰不参与分类，如方解石约 1086 cm⁻¹ 的主峰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03  验证设计与方法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按标本分组的五折验证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第 1 轮（共 5 轮，各折轮流作为验证集）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097280" cy="960120"/>
          </a:xfrm>
          <a:prstGeom prst="rect">
            <a:avLst/>
          </a:prstGeom>
          <a:solidFill>
            <a:srgbClr val="B8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097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 1 折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4792" y="1965960"/>
            <a:ext cx="1097280" cy="96012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64792" y="1965960"/>
            <a:ext cx="1097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 2 折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训练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80944" y="1965960"/>
            <a:ext cx="1097280" cy="96012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1965960"/>
            <a:ext cx="1097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 3 折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7096" y="1965960"/>
            <a:ext cx="1097280" cy="96012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7096" y="1965960"/>
            <a:ext cx="1097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 4 折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训练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13248" y="1965960"/>
            <a:ext cx="1097280" cy="96012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1965960"/>
            <a:ext cx="1097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第 5 折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08960"/>
            <a:ext cx="5971032" cy="640080"/>
          </a:xfrm>
          <a:prstGeom prst="rect">
            <a:avLst/>
          </a:prstGeom>
          <a:solidFill>
            <a:srgbClr val="EEF3EF"/>
          </a:solidFill>
          <a:ln w="12700">
            <a:solidFill>
              <a:srgbClr val="C9D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5669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参考库：1,063 种单标本矿物，每轮均只在训练侧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6035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验证组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同一标本的全部光谱 = 1 个验证组；输入完全相同的跨标本光谱合并为同组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分配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各类别的验证组均衡分配到 5 折；留出时训练侧仍有同类其他标本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554480"/>
            <a:ext cx="4690872" cy="365760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1737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防止泄漏的约束 [5]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240280"/>
            <a:ext cx="42976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000"/>
              </a:spcAft>
              <a:buChar char="•"/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标准化、PCA 仅在训练折内拟合</a:t>
            </a:r>
          </a:p>
          <a:p>
            <a:pPr algn="l" marL="219456" indent="-219456">
              <a:spcAft>
                <a:spcPts val="1000"/>
              </a:spcAft>
              <a:buChar char="•"/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组内光谱多数投票，得到一个预测；平票取字母序靠前者</a:t>
            </a:r>
          </a:p>
          <a:p>
            <a:pPr algn="l" marL="219456" indent="-219456">
              <a:spcAft>
                <a:spcPts val="1000"/>
              </a:spcAft>
              <a:buChar char="•"/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每个验证组等权计分</a:t>
            </a:r>
          </a:p>
          <a:p>
            <a:pPr algn="l" marL="219456" indent="-219456">
              <a:spcAft>
                <a:spcPts val="1000"/>
              </a:spcAft>
              <a:buChar char="•"/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超参数预先固定，不依据验证结果调整</a:t>
            </a:r>
          </a:p>
          <a:p>
            <a:pPr algn="l" marL="219456" indent="-219456">
              <a:spcAft>
                <a:spcPts val="1000"/>
              </a:spcAft>
              <a:buChar char="•"/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最终模型用全部可用光谱重新拟合，其训练分数不作为性能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03  验证设计与方法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对比方法与评价指标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916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41655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处理流程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固定参数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多数类基线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不使用光谱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预测训练集中最常见的类别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余弦 1-NN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L2 归一化 → 最近邻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k = 1，余弦距离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PCA + 逻辑回归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L2 归一化 → 标准化 → PCA → 逻辑回归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个主成分，C = 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RBF-SVM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L2 归一化 → RBF 核支持向量机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 = 10，γ = scale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评价指标（均在验证组层面计算）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3566160" cy="118872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19472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组级正确率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预测正确的验证组比例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4800600"/>
            <a:ext cx="3566160" cy="118872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4919472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宏平均 F1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606 个可验证类别的 F1 等权平均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4800600"/>
            <a:ext cx="3566160" cy="118872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4919472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平衡准确率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各类别召回率的平均值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实现：scikit-learn 1.8.0，Python 3.12.13 [3]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04  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总体分类性能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14400"/>
                <a:gridCol w="777240"/>
                <a:gridCol w="1051560"/>
                <a:gridCol w="12344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正确率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宏 F1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平衡准确率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五折范围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多数类基线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1.1%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0.002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0.9–1.1%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余弦 1-NN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70.0%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0.678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0.671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68.5–71.2%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PCA + 逻辑回归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46.9%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0.354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0.373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42.1–49.4%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RBF-SVM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71.1%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0.671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0.667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66.6–73.8%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60520"/>
            <a:ext cx="5577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606 类、1,789 个验证组的折外结果。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余弦 1-NN 与 RBF-SVM 相差 1.1 个百分点，小于折间波动；未做显著性检验。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两者在 87% 的验证组上预测相同。</a:t>
            </a:r>
          </a:p>
        </p:txBody>
      </p:sp>
      <p:pic>
        <p:nvPicPr>
          <p:cNvPr id="10" name="Picture 9" descr="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63040"/>
            <a:ext cx="5257800" cy="3518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5054936"/>
            <a:ext cx="5257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图 4  组级正确率：柱为全部验证组合并结果，点为各折结果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04  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类别标本数与正确率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pic>
        <p:nvPicPr>
          <p:cNvPr id="8" name="Picture 7" descr="support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309360" cy="45950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131205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图 5  按类别独立标本数分组的组级正确率（误差线：95% Wilson 区间 [4]）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600200"/>
            <a:ext cx="4370832" cy="443484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783080"/>
            <a:ext cx="39319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2 个标本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训练侧仅 1 个同类标本：余弦 1-NN 64%，RBF-SVM 61%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≥6 个标本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余弦 1-NN 81%，RBF-SVM 85%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解释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当前数据下，每类的标本覆盖是性能的主要限制因素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05  误差分析与讨论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同族矿物间的混淆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pic>
        <p:nvPicPr>
          <p:cNvPr id="8" name="Picture 7" descr="confu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94960" cy="4623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159755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图 6  两对易混淆矿物的平均光谱（各自最大值归一化）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37960" y="1600200"/>
          <a:ext cx="5102352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713232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真实 → 预测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关系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组数</a:t>
                      </a:r>
                    </a:p>
                  </a:txBody>
                  <a:tcPr anchor="ctr" marL="73152" marR="73152" marT="18288" marB="18288">
                    <a:solidFill>
                      <a:srgbClr val="1E5B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锂磷铝石 → 羟磷锂铝石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F–OH 固溶体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钠透闪石 → 氟钠透闪石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角闪石族，OH–F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氟钙镁电气石 → 镁电气石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电气石族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镁铝榴石 → 铁铝榴石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石榴子石族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钙铝榴石 → 钙铁榴石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石榴子石族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透闪石 → 阳起石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角闪石族，Mg–Fe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2A3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37960" y="5029200"/>
            <a:ext cx="51023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余弦 1-NN 最常见的混淆对（共 536 个错误组）。同族矿物结构相同、仅部分离子替换，拉曼峰位接近。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05  误差分析与讨论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讨论与局限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22392" cy="54864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422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主要发现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4223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200"/>
              </a:spcAft>
              <a:buChar char="•"/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余弦 1-NN 与 RBF-SVM 性能相当，降至 8 维的 PCA + 逻辑回归明显落后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误差集中于同族与固溶体矿物，304–852 cm⁻¹ 光谱的区分度有限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无法验证的单标本类别同样参与竞争（图 7）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422392" cy="54864"/>
          </a:xfrm>
          <a:prstGeom prst="rect">
            <a:avLst/>
          </a:prstGeom>
          <a:solidFill>
            <a:srgbClr val="B8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422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8642A"/>
                </a:solidFill>
                <a:latin typeface="Noto Sans CJK SC"/>
                <a:ea typeface="Noto Sans CJK SC"/>
                <a:cs typeface="Noto Sans CJK SC"/>
              </a:rPr>
              <a:t>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31720"/>
            <a:ext cx="542239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200"/>
              </a:spcAft>
              <a:buChar char="•"/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1,063 种单标本矿物没有验证分数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共同区间以外的光谱信息未使用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仅数据库内部验证，无跨实验室、跨仪器的外部测试；验证方式会改变模型排序 [7]</a:t>
            </a:r>
          </a:p>
          <a:p>
            <a:pPr algn="l" marL="219456" indent="-219456">
              <a:spcAft>
                <a:spcPts val="1200"/>
              </a:spcAft>
              <a:buChar char="•"/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方法间差异未做显著性检验</a:t>
            </a:r>
          </a:p>
        </p:txBody>
      </p:sp>
      <p:pic>
        <p:nvPicPr>
          <p:cNvPr id="14" name="Picture 13" descr="error_targ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5120640" cy="20270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16925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图 7  余弦 1-NN 错误预测的去向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05  误差分析与讨论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交互演示：折外预测与参考库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pic>
        <p:nvPicPr>
          <p:cNvPr id="8" name="Picture 7" descr="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035040" cy="42785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1476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图 8  全量交互页（assets/interactive/ch04-full.html）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600200"/>
            <a:ext cx="4690872" cy="128016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737360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① 石英 Quartz（默认）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514 nm 光谱被判为方钠石；同一标本另两条光谱正确，投票结果为石英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063240"/>
            <a:ext cx="4690872" cy="128016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3200400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② 卟啉镍石 Abelsonite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仅一个标本：只在参考库中，没有验证预测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526280"/>
            <a:ext cx="4690872" cy="128016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663440"/>
            <a:ext cx="4343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③ 模拟页：两种划分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逐谱随机划分时第 1 折两侧共享 44 个标本；按标本分组后为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>06  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57400"/>
            <a:ext cx="1033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在 606 类、1,789 个验证组的按标本分组验证中，最好的组级正确率约为 71%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34640"/>
            <a:ext cx="1033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余弦 1-NN 与 RBF-SVM 性能相当；误差主要来自同族和固溶体矿物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11880"/>
            <a:ext cx="10332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正确率随每类独立标本数增加而提高，数据覆盖是当前的主要限制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8642A"/>
                </a:solidFill>
                <a:latin typeface="Noto Sans CJK SC"/>
                <a:ea typeface="Noto Sans CJK SC"/>
                <a:cs typeface="Noto Sans CJK SC"/>
              </a:rPr>
              <a:t>展望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3566160" cy="109728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为同一矿物收集更多不同产地的独立标本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4937760"/>
            <a:ext cx="3566160" cy="109728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4937760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补充跨实验室、跨仪器的外部验证，按 REFORMS 规范报告 [6]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91856" y="4937760"/>
            <a:ext cx="3566160" cy="109728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4937760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尝试 TabPFN 等新的基线方法 [8]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C8C6A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参考文献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61872"/>
            <a:ext cx="11091672" cy="0"/>
          </a:xfrm>
          <a:prstGeom prst="line">
            <a:avLst/>
          </a:prstGeom>
          <a:ln w="1587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C9D6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73952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G04 · 人工智能化学分析 · 第 4 章 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5912" y="6473952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37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10642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[1] </a:t>
            </a:r>
            <a:r>
              <a:rPr sz="13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Lafuente, B.; Downs, R. T.; Yang, H.; Stone, N. The power of databases: the RRUFF project. In Highlights in Mineralogical Crystallography, pp. 1–30 (2015). doi:10.1515/9783110417104-003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[2] </a:t>
            </a:r>
            <a:r>
              <a:rPr sz="13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Li, B.; Schmidt, M. N.; Alstrøm, T. S. Datasets for replicating the paper "Raman Spectrum Matching with Contrastive Representation Learning". Technical University of Denmark, v1 (2022), CC BY 4.0. doi:10.11583/DTU.20222331.v1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[3] </a:t>
            </a:r>
            <a:r>
              <a:rPr sz="13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Pedregosa, F.; Varoquaux, G.; Gramfort, A.; et al. Scikit-learn: Machine learning in Python. J. Mach. Learn. Res. 12, 2825–2830 (2011).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[4] </a:t>
            </a:r>
            <a:r>
              <a:rPr sz="13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Wilson, E. B. Probable inference, the law of succession, and statistical inference. J. Am. Stat. Assoc. 22, 209–212 (1927). doi:10.1080/01621459.1927.10502953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[5] </a:t>
            </a:r>
            <a:r>
              <a:rPr sz="13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Kapoor, S.; Narayanan, A. Leakage and the reproducibility crisis in machine-learning-based science. Patterns 4, 100804 (2023). doi:10.1016/j.patter.2023.100804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[6] </a:t>
            </a:r>
            <a:r>
              <a:rPr sz="13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Kapoor, S.; Cantrell, E. M.; Peng, K.; et al. REFORMS: Consensus-based recommendations for machine-learning-based science. Sci. Adv. 10, eadk3452 (2024). doi:10.1126/sciadv.adk3452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[7] </a:t>
            </a:r>
            <a:r>
              <a:rPr sz="13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Lilek, D.; Zimmermann, D.; Steininger, L.; et al. Machine learning of Raman spectroscopic data: Comparison of different validation strategies. J. Raman Spectrosc. 56, 867–877 (2025). doi:10.1002/jrs.6842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E5B3F"/>
                </a:solidFill>
                <a:latin typeface="Noto Sans CJK SC"/>
                <a:ea typeface="Noto Sans CJK SC"/>
                <a:cs typeface="Noto Sans CJK SC"/>
              </a:rPr>
              <a:t>[8] </a:t>
            </a:r>
            <a:r>
              <a:rPr sz="1300" b="0">
                <a:solidFill>
                  <a:srgbClr val="1F2A30"/>
                </a:solidFill>
                <a:latin typeface="Noto Sans CJK SC"/>
                <a:ea typeface="Noto Sans CJK SC"/>
                <a:cs typeface="Noto Sans CJK SC"/>
              </a:rPr>
              <a:t>Hollmann, N.; Müller, S.; Purucker, L.; et al. Accurate predictions on small data with a tabular foundation model. Nature 637, 319–326 (2025). doi:10.1038/s41586-024-08328-6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2026-10-26T10:00:10.7880000Z</dcterms:created>
  <dcterms:modified xsi:type="dcterms:W3CDTF">2026-10-26T10:00:10.7880000Z</dcterms:modified>
</coreProperties>
</file>