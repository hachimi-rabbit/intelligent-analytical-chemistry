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f499cc94d854a94" Type="http://schemas.openxmlformats.org/officeDocument/2006/relationships/extended-properties" Target="docProps/app.xml"/><Relationship Id="R60daf4b57fbf4515" Type="http://schemas.openxmlformats.org/package/2006/relationships/metadata/core-properties" Target="docProps/core.xml"/><Relationship Id="Rbbcbf91097d04ed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27507512924340"/>
  </p:sldMasterIdLst>
  <p:notesMasterIdLst>
    <p:notesMasterId xmlns:r="http://schemas.openxmlformats.org/officeDocument/2006/relationships" r:id="R84c854f826d8477f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4ef371142b6443e0" Type="http://schemas.openxmlformats.org/officeDocument/2006/relationships/tableStyles" Target="tableStyles.xml"/><Relationship Id="R84c854f826d8477f" Type="http://schemas.openxmlformats.org/officeDocument/2006/relationships/notesMaster" Target="notesMasters/notesMaster1.xml"/><Relationship Id="Rc14badef7ff84822" Type="http://schemas.openxmlformats.org/officeDocument/2006/relationships/presProps" Target="presProps.xml"/><Relationship Id="Rc427507512924340" Type="http://schemas.openxmlformats.org/officeDocument/2006/relationships/slideMaster" Target="slideMasters/slideMaster1.xml"/><Relationship Id="Rf0660c61f2244b46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每种矿物拥有的独立标本数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矿物种数</c:v>
                </c:pt>
              </c:strCache>
            </c:strRef>
          </c:tx>
          <c:spPr>
            <a:solidFill>
              <a:srgbClr val="326A91"/>
            </a:solidFill>
          </c:spPr>
          <c:dPt>
            <c:idx val="0"/>
            <c:spPr>
              <a:solidFill>
                <a:srgbClr val="B8C2CA"/>
              </a:solidFill>
            </c:spPr>
          </c:dPt>
          <c:cat>
            <c:strRef>
              <c:f>Sheet1!$A$2:$A$6</c:f>
              <c:strCache>
                <c:ptCount val="5"/>
                <c:pt idx="0">
                  <c:v>1 个</c:v>
                </c:pt>
                <c:pt idx="1">
                  <c:v>2 个</c:v>
                </c:pt>
                <c:pt idx="2">
                  <c:v>3 个</c:v>
                </c:pt>
                <c:pt idx="3">
                  <c:v>4 个</c:v>
                </c:pt>
                <c:pt idx="4">
                  <c:v>≥5 个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1063</c:v>
                </c:pt>
                <c:pt idx="1">
                  <c:v>374</c:v>
                </c:pt>
                <c:pt idx="2">
                  <c:v>123</c:v>
                </c:pt>
                <c:pt idx="3">
                  <c:v>45</c:v>
                </c:pt>
                <c:pt idx="4">
                  <c:v>64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15344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D6DE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CD6D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556A79"/>
          </a:solidFill>
          <a:latin typeface="Noto Sans CJK SC"/>
          <a:ea typeface="Noto Sans CJK SC"/>
          <a:cs typeface="Noto Sans CJK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606 类、1,789 组的折外结果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组级正确率</c:v>
                </c:pt>
              </c:strCache>
            </c:strRef>
          </c:tx>
          <c:spPr>
            <a:solidFill>
              <a:srgbClr val="326A91"/>
            </a:solidFill>
          </c:spPr>
          <c:cat>
            <c:strRef>
              <c:f>Sheet1!$A$2:$A$5</c:f>
              <c:strCache>
                <c:ptCount val="4"/>
                <c:pt idx="0">
                  <c:v>多数类</c:v>
                </c:pt>
                <c:pt idx="1">
                  <c:v>余弦近邻</c:v>
                </c:pt>
                <c:pt idx="2">
                  <c:v>PCA8＋逻辑回归</c:v>
                </c:pt>
                <c:pt idx="3">
                  <c:v>RBF-SVM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0.010620458356623811</c:v>
                </c:pt>
                <c:pt idx="1">
                  <c:v>0.7003912800447177</c:v>
                </c:pt>
                <c:pt idx="2">
                  <c:v>0.4689770821688094</c:v>
                </c:pt>
                <c:pt idx="3">
                  <c:v>0.7110117384013416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宏 F1</c:v>
                </c:pt>
              </c:strCache>
            </c:strRef>
          </c:tx>
          <c:spPr>
            <a:solidFill>
              <a:srgbClr val="A7651C"/>
            </a:solidFill>
          </c:spPr>
          <c:cat>
            <c:strRef>
              <c:f>Sheet1!$A$2:$A$5</c:f>
              <c:strCache>
                <c:ptCount val="4"/>
                <c:pt idx="0">
                  <c:v>多数类</c:v>
                </c:pt>
                <c:pt idx="1">
                  <c:v>余弦近邻</c:v>
                </c:pt>
                <c:pt idx="2">
                  <c:v>PCA8＋逻辑回归</c:v>
                </c:pt>
                <c:pt idx="3">
                  <c:v>RBF-SVM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3.4682671807003715e-05</c:v>
                </c:pt>
                <c:pt idx="1">
                  <c:v>0.6775839284679707</c:v>
                </c:pt>
                <c:pt idx="2">
                  <c:v>0.35408763102997426</c:v>
                </c:pt>
                <c:pt idx="3">
                  <c:v>0.6711157694069095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>
                  <a:solidFill>
                    <a:srgbClr val="15344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D6DE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CCD6D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Noto Sans CJK SC"/>
              <a:ea typeface="Noto Sans CJK SC"/>
              <a:cs typeface="Noto Sans CJK SC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556A79"/>
          </a:solidFill>
          <a:latin typeface="Noto Sans CJK SC"/>
          <a:ea typeface="Noto Sans CJK SC"/>
          <a:cs typeface="Noto Sans CJK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按该矿物的独立标本数分组的正确率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余弦近邻</c:v>
                </c:pt>
              </c:strCache>
            </c:strRef>
          </c:tx>
          <c:spPr>
            <a:ln w="44450">
              <a:solidFill>
                <a:srgbClr val="8FB3CF"/>
              </a:solidFill>
            </a:ln>
          </c:spPr>
          <c:marker>
            <c:size val="9"/>
            <c:spPr>
              <a:solidFill>
                <a:srgbClr val="8FB3CF"/>
              </a:solidFill>
              <a:ln>
                <a:solidFill>
                  <a:srgbClr val="8FB3CF"/>
                </a:solidFill>
              </a:ln>
            </c:spPr>
          </c:marke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8FB3CF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8FB3CF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8FB3CF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8FB3CF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8FB3CF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 个</c:v>
                </c:pt>
                <c:pt idx="1">
                  <c:v>3 个</c:v>
                </c:pt>
                <c:pt idx="2">
                  <c:v>4 个</c:v>
                </c:pt>
                <c:pt idx="3">
                  <c:v>5 个</c:v>
                </c:pt>
                <c:pt idx="4">
                  <c:v>≥6 个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0.643048128342246</c:v>
                </c:pt>
                <c:pt idx="1">
                  <c:v>0.6856368563685636</c:v>
                </c:pt>
                <c:pt idx="2">
                  <c:v>0.7111111111111111</c:v>
                </c:pt>
                <c:pt idx="3">
                  <c:v>0.7230769230769231</c:v>
                </c:pt>
                <c:pt idx="4">
                  <c:v>0.8056206088992974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RBF-SVM</c:v>
                </c:pt>
              </c:strCache>
            </c:strRef>
          </c:tx>
          <c:spPr>
            <a:ln w="44450">
              <a:solidFill>
                <a:srgbClr val="326A91"/>
              </a:solidFill>
            </a:ln>
          </c:spPr>
          <c:marker>
            <c:size val="9"/>
            <c:spPr>
              <a:solidFill>
                <a:srgbClr val="326A91"/>
              </a:solidFill>
              <a:ln>
                <a:solidFill>
                  <a:srgbClr val="326A91"/>
                </a:solidFill>
              </a:ln>
            </c:spPr>
          </c:marke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326A91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326A91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326A91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326A91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400">
                      <a:solidFill>
                        <a:srgbClr val="326A91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 个</c:v>
                </c:pt>
                <c:pt idx="1">
                  <c:v>3 个</c:v>
                </c:pt>
                <c:pt idx="2">
                  <c:v>4 个</c:v>
                </c:pt>
                <c:pt idx="3">
                  <c:v>5 个</c:v>
                </c:pt>
                <c:pt idx="4">
                  <c:v>≥6 个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0.6136363636363636</c:v>
                </c:pt>
                <c:pt idx="1">
                  <c:v>0.7127371273712737</c:v>
                </c:pt>
                <c:pt idx="2">
                  <c:v>0.75</c:v>
                </c:pt>
                <c:pt idx="3">
                  <c:v>0.7846153846153846</c:v>
                </c:pt>
                <c:pt idx="4">
                  <c:v>0.8524590163934426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D6D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5"/>
        </c:scaling>
        <c:delete val="0"/>
        <c:axPos val="l"/>
        <c:majorGridlines>
          <c:spPr>
            <a:ln>
              <a:solidFill>
                <a:srgbClr val="CCD6DE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Noto Sans CJK SC"/>
              <a:ea typeface="Noto Sans CJK SC"/>
              <a:cs typeface="Noto Sans CJK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556A79"/>
          </a:solidFill>
          <a:latin typeface="Noto Sans CJK SC"/>
          <a:ea typeface="Noto Sans CJK SC"/>
          <a:cs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5231c1d262ea47d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【本讲稿逐字照念即可；方括号里是动作提示，不要念出来。全程约 10 分钟。】</a:t>
            </a:r>
          </a:p>
          <a:p>
            <a:r>
              <a:t>大家好，我们是 G04 组。今天汇报的题目是：全量实测拉曼光谱的矿物分类。</a:t>
            </a:r>
          </a:p>
          <a:p>
            <a:r>
              <a:t>上一次汇报，我们只用了三种矿物：石英、方解石和石膏，一共 52 条谱、22 个标本。三种方法都做到了百分之百，所以分不出方法的好坏。</a:t>
            </a:r>
          </a:p>
          <a:p>
            <a:r>
              <a:t>这一次，我们把公开数据库里的全部实测谱都用上了：5,228 条谱，2,858 个标本，1,674 种矿物。</a:t>
            </a:r>
          </a:p>
          <a:p>
            <a:r>
              <a:t>我们要回答的问题和上次一样：模型能不能认出一个它从来没见过的标本。</a:t>
            </a:r>
          </a:p>
          <a:p>
            <a:r>
              <a:t>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</a:t>
            </a:r>
          </a:p>
          <a:p>
            <a:r>
              <a:t>【指向左边两个大数字】只有三种矿物的时候，正确率是百分之百；扩大到 1,669 种矿物以后，最好的方法 SVM 降到了 71.1%。</a:t>
            </a:r>
          </a:p>
          <a:p>
            <a:r>
              <a:t>【指向右边方框】我们有三个发现。第一，最简单的余弦近邻得到 70.0%，和 SVM 基本持平。第二，错误主要发生在成分相近的同族矿物之间。第三，一种矿物的独立标本越多，模型就认得越准。</a:t>
            </a:r>
          </a:p>
          <a:p>
            <a:r>
              <a:t>【指向左下方两行字】先说明一下怎么打分。同一个标本的全部光谱一起留出来考试，投票得到一个答案，这叫一个验证组。至少有两个独立标本的 606 种矿物才能被验证，其余 1,063 种只放在参考库里。</a:t>
            </a:r>
          </a:p>
          <a:p>
            <a:r>
              <a:t>后面几页依次展开。【翻页】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这一页是数据。【指向左上方数字】5,228 条记录我们逐条检查过，其中 10 条的标签互相冲突，比如同一个标本有两个矿物名，我们把它们隔离了。剩下 5,218 条可用，覆盖 1,669 种矿物。</a:t>
            </a:r>
          </a:p>
          <a:p>
            <a:r>
              <a:t>【指向右边图里灰色的柱子】关键是这根灰色柱子：1,063 种矿物只有一个标本。只有一个标本，就没法检验模型能不能认出同种矿物的新标本，所以它们只能放进参考库，不产生分数。</a:t>
            </a:r>
          </a:p>
          <a:p>
            <a:r>
              <a:t>【指向左下方橙色数字】真正能验证的是 606 种矿物。</a:t>
            </a:r>
          </a:p>
          <a:p>
            <a:r>
              <a:t>要注意，参考库里的矿物虽然不打分，但模型仍然可能把别的谱错判成它们，这种错误照样算错。【翻页】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这一页讲怎么验证。【指向五个色块】我们把能验证的 1,789 个验证组分成五个分区。每一轮拿一个分区来考试，其余四个用来训练，轮流做五次。同一个标本的全部光谱永远在同一边，不会一半拿去训练、一半拿去考试。</a:t>
            </a:r>
          </a:p>
          <a:p>
            <a:r>
              <a:t>【指向灰色长条】1,063 种只有一个标本的矿物，每一轮都只放在训练这边，当作参考。</a:t>
            </a:r>
          </a:p>
          <a:p>
            <a:r>
              <a:t>【指向下方表格】我们比较了四种方法。余弦近邻，就是找形状最像的一条训练谱，沿用它的矿物名。PCA 八维加逻辑回归，先把每条光谱压缩成 8 个数，再分类。RBF 核的 SVM，学习非线性的分类边界。还有一个多数类基线，它不看光谱，永远猜最常见的那种矿物。</a:t>
            </a:r>
          </a:p>
          <a:p>
            <a:r>
              <a:t>四种方法的参数都是事先定好的，没有根据考试成绩去调。【翻页】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这是四种方法的结果。【指向图】蓝色柱子是正确率，橙色柱子是宏 F1，也就是每种矿物权重相同的平均成绩。</a:t>
            </a:r>
          </a:p>
          <a:p>
            <a:r>
              <a:t>【指向最左边一组柱子】多数类基线只有 1.1%，说明这个任务没法靠猜。</a:t>
            </a:r>
          </a:p>
          <a:p>
            <a:r>
              <a:t>【指向第三组柱子】PCA 加逻辑回归是 46.9%，明显落后。原因是只留了 8 维，面对上千种矿物，信息丢得太多。这并不说明线性模型本身不行。</a:t>
            </a:r>
          </a:p>
          <a:p>
            <a:r>
              <a:t>【指向第二组和第四组柱子】余弦近邻是 70.0%，SVM 是 71.1%，只差大约一个百分点。</a:t>
            </a:r>
          </a:p>
          <a:p>
            <a:r>
              <a:t>【指向右边文字】而且在五个分区上，余弦近邻在 68.5% 到 71.2% 之间，SVM 在 66.6% 到 73.8% 之间。分区之间的波动比两种方法的差距还大，所以我们只能说两者相当，不能说 SVM 更好。另外，两种方法在 87% 的验证组上给出了相同的答案。【翻页】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这一页看标本数量的影响。【指向横轴】横轴是这种矿物一共有几个独立标本，纵轴是正确率。</a:t>
            </a:r>
          </a:p>
          <a:p>
            <a:r>
              <a:t>【指向两条线的最左端】只有 2 个标本的时候，训练这边只剩 1 个可以参考，余弦近邻的正确率是 64%，SVM 是 61%。</a:t>
            </a:r>
          </a:p>
          <a:p>
            <a:r>
              <a:t>【指向两条线的最右端】有 6 个以上标本的时候，余弦近邻升到 81%，SVM 升到 85%。</a:t>
            </a:r>
          </a:p>
          <a:p>
            <a:r>
              <a:t>两条线都在往上走。这说明瓶颈主要在数据：为同一种矿物多收集来自不同产地的标本，比换一个更复杂的模型更有用。【翻页】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那模型错在哪里？【指向表格】这是余弦近邻最常见的几种错误。第一行，锂磷铝石被判成了羟磷锂铝石。它们是同一个固溶体系列的两端，只差氟和羟基。</a:t>
            </a:r>
          </a:p>
          <a:p>
            <a:r>
              <a:t>下面几行也一样，都是石榴子石族、角闪石族、电气石族里的同族矿物。它们结构相同，只是部分离子互相替换，拉曼峰的位置只差几个波数。这类错误在矿物学上是合理的，只靠这一段光谱很难分开，需要再加上化学成分等信息。</a:t>
            </a:r>
          </a:p>
          <a:p>
            <a:r>
              <a:t>【指向右边橙色数字】另外，余弦近邻一共错了 536 组，其中 237 组，也就是 44%，被判成了只有一个标本的矿物。参考库里的这些矿物没法验证，却会参与竞争，抢走答案。【翻页】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这一页讲结果的适用边界和改进方向。</a:t>
            </a:r>
          </a:p>
          <a:p>
            <a:r>
              <a:t>【指向左栏】边界有三条。第一，1,063 种矿物只有一个标本，我们的结果不代表这些矿物。第二，为了让所有光谱有共同的输入，只用了波数 304 到 852 这一段，更低和更高波数的峰没有用上。第三，这是数据库内部的验证，没有用其他实验室、其他仪器测的光谱检验过。</a:t>
            </a:r>
          </a:p>
          <a:p>
            <a:r>
              <a:t>【指向右栏】对应的改进方向也有三条。第一，为同一种矿物收集更多不同产地的标本。第二，按照 2024 年发表的 REFORMS 规范，完整报告数据划分方式和复现信息。第三，2025 年 Lilek 等人的研究表明，验证方式会改变模型的排名；下一步也可以试 TabPFN 这类新的基线方法，这个我们这次还没有做。</a:t>
            </a:r>
          </a:p>
          <a:p>
            <a:r>
              <a:t>【指向页面底部】参考文献列在页面下方。【翻页】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【提前在浏览器里打开两个页面：assets/interactive/ch04-full.html 和 assets/interactive/ch04.html。】</a:t>
            </a:r>
          </a:p>
          <a:p>
            <a:r>
              <a:t>下面做一个两分钟的现场演示。【切换到 ch04-full.html 页面，不要动任何下拉框】</a:t>
            </a:r>
          </a:p>
          <a:p>
            <a:r>
              <a:t>第一步。页面默认选中的是石英，模型是余弦近邻。【指向“预测”那一行字】这是石英标本 R040031 用 514 纳米激光测的谱。页面显示：余弦近邻预测 Sodalite，也就是方钠石，与参考标签不一致。单看这一条谱，模型判错了。</a:t>
            </a:r>
          </a:p>
          <a:p>
            <a:r>
              <a:t>【在“实测光谱”下拉框里选第二项，532 nm】换成同一个标本用 532 纳米测的谱，预测是 Quartz，判对了。【再选第三项，780 nm】780 纳米的谱也判对了。</a:t>
            </a:r>
          </a:p>
          <a:p>
            <a:r>
              <a:t>这个标本三条谱，两条判对，投票结果就是石英。这就是我们按标本投票打分的原因。</a:t>
            </a:r>
          </a:p>
          <a:p>
            <a:r>
              <a:t>【在“固定模型”下拉框里选“多数类基线”】换成多数类基线，它预测 Grossular，也就是钙铝榴石。不管什么谱它都猜这一种，因为这是数据里最常见的矿物。</a:t>
            </a:r>
          </a:p>
          <a:p>
            <a:r>
              <a:t>【在“矿物类别”下拉框里选第一项 Abelsonite】第二步。这是卟啉镍石，它只有一个标本。页面显示：本类别只有一个验证组，本谱只参与训练，没有验证预测。这就是前面说的参考库。</a:t>
            </a:r>
          </a:p>
          <a:p>
            <a:r>
              <a:t>【切换到 ch04.html 页面】第三步。这个页面用的是模拟数据，用来说明为什么要按标本划分。</a:t>
            </a:r>
          </a:p>
          <a:p>
            <a:r>
              <a:t>【“划分方式”选“逐谱随机划分（反例）”，“验证折”选 1】如果把光谱打乱随机划分，第 1 折里，训练和验证两边共享了 44 个标本。同一个标本既在训练里，又在考试里，这就是数据泄漏。</a:t>
            </a:r>
          </a:p>
          <a:p>
            <a:r>
              <a:t>【“划分方式”改选“按物理标本分组”】按标本分组以后，共享的标本数变成 0。</a:t>
            </a:r>
          </a:p>
          <a:p>
            <a:r>
              <a:t>注意，这一页是模拟数据，它的结果不算进我们的实测成绩。</a:t>
            </a:r>
          </a:p>
          <a:p>
            <a:r>
              <a:t>【如果网页打不开：不做操作，指着本页三个方框，把每个方框里的两行字依次念出来】</a:t>
            </a:r>
          </a:p>
          <a:p>
            <a:r>
              <a:t>【切回 PPT，翻页】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最后总结三点。</a:t>
            </a:r>
          </a:p>
          <a:p>
            <a:r>
              <a:t>【指向第一条】第一，类别从 3 种扩大到 1,669 种以后，同样按标本留出验证，最好的正确率大约是 71%。</a:t>
            </a:r>
          </a:p>
          <a:p>
            <a:r>
              <a:t>【指向第二条】第二，简单方法就够用。余弦近邻和 SVM 相当，而且错误大多发生在同族矿物之间。</a:t>
            </a:r>
          </a:p>
          <a:p>
            <a:r>
              <a:t>【指向第三条】第三，数据是瓶颈。每种矿物的独立标本越多，认得越准，这比换模型更有效。</a:t>
            </a:r>
          </a:p>
          <a:p>
            <a:r>
              <a:t>【指向底部方框】下一步可以做两件事：为同一种矿物收集更多独立标本，以及用其他实验室、其他仪器测的光谱做外部检验。</a:t>
            </a:r>
          </a:p>
          <a:p>
            <a:r>
              <a:t>我们的汇报就到这里，谢谢大家。</a:t>
            </a:r>
          </a:p>
          <a:p/>
          <a:p>
            <a:r>
              <a:t>【以下是可能被问到的问题和回答，被问到时照念对应的回答。】</a:t>
            </a:r>
          </a:p>
          <a:p>
            <a:r>
              <a:t>问：SVM 的正确率更高，为什么说两者相当？</a:t>
            </a:r>
          </a:p>
          <a:p>
            <a:r>
              <a:t>答：两者只差大约一个百分点；而同一种方法在不同分区之间，正确率就能差 3 到 7 个百分点。差距在波动范围之内，我们也没有做显著性检验，所以不能说谁更好。</a:t>
            </a:r>
          </a:p>
          <a:p>
            <a:r>
              <a:t>问：为什么只用 304 到 852 这一段波数？</a:t>
            </a:r>
          </a:p>
          <a:p>
            <a:r>
              <a:t>答：不同光谱的测量范围不一样，304 到 852 是所有光谱都覆盖的共同区间。我们没有外推或者补造缺失的数据。</a:t>
            </a:r>
          </a:p>
          <a:p>
            <a:r>
              <a:t>问：只有一个标本的矿物为什么不打分？</a:t>
            </a:r>
          </a:p>
          <a:p>
            <a:r>
              <a:t>答：我们要检验的是模型能不能认出没见过的标本。只有一个标本的矿物，把它拿去考试以后，训练里就没有同种矿物了，没法检验。</a:t>
            </a:r>
          </a:p>
          <a:p>
            <a:r>
              <a:t>问：为什么不调参数？</a:t>
            </a:r>
          </a:p>
          <a:p>
            <a:r>
              <a:t>答：参数事先固定，是为了避免根据考试成绩挑参数，让成绩虚高。</a:t>
            </a:r>
          </a:p>
          <a:p>
            <a:r>
              <a:t>问：为什么不用更复杂的模型？</a:t>
            </a:r>
          </a:p>
          <a:p>
            <a:r>
              <a:t>答：这次的目标是先在按标本验证的规则下，给出可信的基线成绩。结果显示瓶颈主要在每种矿物的标本数量，换更复杂的模型不一定能解决。</a:t>
            </a:r>
          </a:p>
          <a:p>
            <a:r>
              <a:t>问：被问到不会的问题时</a:t>
            </a:r>
          </a:p>
          <a:p>
            <a:r>
              <a:t>答：这个问题我们这次没有研究，会后我们查一下再回复您。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80c98aed7d1e46a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7d6e26ec9fc3472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ce66279709749a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ce387e0a2c6344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8fc45d7248074d2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05a7923f63f4f6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FDD9AB-9BEB-4EEB-82AC-2D378CD6B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EC45AA7-A865-4283-987D-D86C78C40A7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6DCD6C-78ED-408D-B652-342DB746E2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F7C9D1-2910-4860-921F-F7FCE1250E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8B02A5-E0FE-43DE-A3EC-17252EBCC1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9A28F8-CDCC-4624-B8F9-94195A264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4F2E87-3D51-4FD0-9119-7BFC1C44C9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65030E-0D5E-4E61-8810-5FFE8E339C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F311FD-DABF-49DC-86F5-FE11984DAD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BD22ED-9CCB-4C72-9ED5-2B5072CA0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d4d2df5c8a47b4" Type="http://schemas.openxmlformats.org/officeDocument/2006/relationships/slideLayout" Target="../slideLayouts/slideLayout4.xml"/><Relationship Id="R4e3cf351647a494f" Type="http://schemas.openxmlformats.org/officeDocument/2006/relationships/slideLayout" Target="../slideLayouts/slideLayout1.xml"/><Relationship Id="R6ee6a548ddf64e39" Type="http://schemas.openxmlformats.org/officeDocument/2006/relationships/slideLayout" Target="../slideLayouts/slideLayout6.xml"/><Relationship Id="Re05e4a3775884c8f" Type="http://schemas.openxmlformats.org/officeDocument/2006/relationships/slideLayout" Target="../slideLayouts/slideLayout5.xml"/><Relationship Id="Re9ffdf3d8202494c" Type="http://schemas.openxmlformats.org/officeDocument/2006/relationships/slideLayout" Target="../slideLayouts/slideLayout2.xml"/><Relationship Id="Rf050ac05af5141f1" Type="http://schemas.openxmlformats.org/officeDocument/2006/relationships/slideLayout" Target="../slideLayouts/slideLayout3.xml"/><Relationship Id="Rf41b9965de9748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3cf351647a494f"/>
    <p:sldLayoutId xmlns:r="http://schemas.openxmlformats.org/officeDocument/2006/relationships" id="2147483650" r:id="Re9ffdf3d8202494c"/>
    <p:sldLayoutId xmlns:r="http://schemas.openxmlformats.org/officeDocument/2006/relationships" id="2147483651" r:id="Rf050ac05af5141f1"/>
    <p:sldLayoutId xmlns:r="http://schemas.openxmlformats.org/officeDocument/2006/relationships" id="2147483652" r:id="R04d4d2df5c8a47b4"/>
    <p:sldLayoutId xmlns:r="http://schemas.openxmlformats.org/officeDocument/2006/relationships" id="2147483653" r:id="Re05e4a3775884c8f"/>
    <p:sldLayoutId xmlns:r="http://schemas.openxmlformats.org/officeDocument/2006/relationships" id="2147483654" r:id="R6ee6a548ddf64e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全量实测拉曼光谱的矿物分类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28800"/>
            <a:ext cx="10954512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从 3 类到 1,669 类，模型还能认出新标本吗？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840480"/>
            <a:ext cx="104790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5,228 条实测谱 · 2,858 个标本 · 1,674 类矿物</a:t>
            </a:r>
          </a:p>
          <a:p>
            <a:pPr algn="l">
              <a:spcAft>
                <a:spcPts val="1400"/>
              </a:spcAft>
            </a:pPr>
            <a:r>
              <a: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同一套按标本留出的验证规则，四种固定参数的方法</a:t>
            </a:r>
          </a:p>
          <a:p>
            <a:pPr algn="l">
              <a:spcAft>
                <a:spcPts val="1400"/>
              </a:spcAft>
            </a:pPr>
            <a:r>
              <a: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谱图取自 RRUFF 数据库（DTU 存档 v1），已经来源方预处理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类别扩大到 1,669 类后，正确率降至约七成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55448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4688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三类矿物，22 个标本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664208"/>
            <a:ext cx="731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>
                <a:solidFill>
                  <a:srgbClr val="B8C2C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5448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71.1%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4688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1,669 类 · SVM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417320"/>
            <a:ext cx="3767328" cy="452628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45920"/>
            <a:ext cx="32918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rPr>
              <a:t>三个发现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余弦近邻 70.0%，与 SVM 基本持平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错误多在同族、固溶体矿物之间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独立标本越多，正确率越高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977639"/>
            <a:ext cx="6858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评分单位是“验证组”：同一标本的全部谱一起留出、投票得到一个预测。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只有至少两个独立标本的 606 类能被验证；其余 1,063 类只作参考。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数据多，但多数矿物只有一个标本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6304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5,218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377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条谱可用（隔离 10 条标签冲突）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97180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1,669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8862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类矿物进入模型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48056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rPr>
              <a:t>606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3949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类有 ≥2 个标本，可以验证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566160" y="1325880"/>
          <a:ext cx="8019288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66160" y="5943600"/>
            <a:ext cx="8019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灰色 1,063 类只有一个标本：只进参考库，不产生验证分数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五折分组验证：同一标本不会同时出现在训练和验证中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每轮留出一个分区；同一标本的全部谱始终在同一侧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" y="21031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A76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10312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分区 1</a:t>
            </a:r>
          </a:p>
          <a:p>
            <a:pPr algn="ctr"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本轮验证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2072" y="21031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2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2072" y="210312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分区 2</a:t>
            </a:r>
          </a:p>
          <a:p>
            <a:pPr algn="ctr"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本轮训练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1031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2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0312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分区 3</a:t>
            </a:r>
          </a:p>
          <a:p>
            <a:pPr algn="ctr"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本轮训练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21031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2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210312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分区 4</a:t>
            </a:r>
          </a:p>
          <a:p>
            <a:pPr algn="ctr"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本轮训练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0616" y="21031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2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0616" y="210312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分区 5</a:t>
            </a:r>
          </a:p>
          <a:p>
            <a:pPr algn="ctr"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本轮训练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" y="3246120"/>
            <a:ext cx="10863072" cy="68580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46120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参考库：1,063 类单标本矿物，每一轮都只参与训练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9224" y="4251960"/>
          <a:ext cx="1086307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54112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方法（参数固定）</a:t>
                      </a:r>
                    </a:p>
                  </a:txBody>
                  <a:tcPr anchor="ctr" marL="91440" marR="91440"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怎样判别</a:t>
                      </a:r>
                    </a:p>
                  </a:txBody>
                  <a:tcPr anchor="ctr" marL="91440" marR="91440">
                    <a:solidFill>
                      <a:srgbClr val="15344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余弦近邻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找形状最像的一条训练谱，沿用它的矿物名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PCA8＋逻辑回归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先压缩到 8 个主成分，再学类别边界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RBF-SVM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学习类别之间的非线性边界；多数类基线不看光谱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余弦近邻与 SVM 打平，压到 8 维的线性模型明显落后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2648" y="1325880"/>
          <a:ext cx="758952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554480"/>
            <a:ext cx="3081528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差距小于波动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五个分区上，近邻 68.5%–71.2%，SVM 66.6%–73.8%。</a:t>
            </a:r>
          </a:p>
          <a:p>
            <a:pPr algn="l">
              <a:spcAft>
                <a:spcPts val="12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两者多数时候一致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87% 的验证组给出相同答案。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同一种矿物的标本越多，认得越准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2648" y="1325880"/>
          <a:ext cx="758952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554480"/>
            <a:ext cx="30815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64% → 81%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468880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余弦近邻：2 个标本 → 6 个以上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474720"/>
            <a:ext cx="308152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各点的验证组数</a:t>
            </a:r>
          </a:p>
          <a:p>
            <a:pPr algn="l">
              <a:spcAft>
                <a:spcPts val="8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2 个 748，3 个 369，4 个 180，5 个 65，≥6 个 427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错误集中在成分相近的同族矿物之间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146304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01752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真实矿物 → 被判为</a:t>
                      </a:r>
                    </a:p>
                  </a:txBody>
                  <a:tcPr anchor="ctr" marL="91440" marR="91440"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关系</a:t>
                      </a:r>
                    </a:p>
                  </a:txBody>
                  <a:tcPr anchor="ctr" marL="91440" marR="91440"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组数</a:t>
                      </a:r>
                    </a:p>
                  </a:txBody>
                  <a:tcPr anchor="ctr" marL="91440" marR="91440">
                    <a:solidFill>
                      <a:srgbClr val="15344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锂磷铝石 → 羟磷锂铝石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F/OH 固溶体两端员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钠透闪石 → 氟钠透闪石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角闪石族，OH/F 置换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氟钙镁电气石 → 镁电气石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电气石族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镁铝榴石 → 铁铝榴石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石榴子石族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钙铝榴石 → 钙铁榴石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石榴子石族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1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透闪石 → 阳起石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角闪石族，Mg/Fe 置换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" y="544068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余弦近邻最常见的混淆对（按组数）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463040"/>
            <a:ext cx="2990088" cy="384048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737360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rPr>
              <a:t>44%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651760"/>
            <a:ext cx="2560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的错误（237/536 组）被判成只有一个标本的矿物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93192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参考库里的“孤本”无法验证，却会参与竞争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适用边界与改进方向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63040"/>
            <a:ext cx="5303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rPr>
              <a:t>边界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1,063 类只有一个标本，没有验证分数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只用共同区间 304–852 cm⁻¹，其余波段的峰未参与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数据库内验证，未做外部实验室或跨仪器测试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463040"/>
            <a:ext cx="5303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方向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为同一矿物收集更多不同产地的独立标本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按 REFORMS（2024）报告划分方式与复现信息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验证方式会改变模型排序（Lilek 等，2025）；可尝试 TabPFN（2025）等新基线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257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Kapoor 等，Sci. Adv. 2024，doi:10.1126/sciadv.adk3452 · Lilek 等，J. Raman Spectrosc. 2025，doi:10.1002/jrs.6842 · Hollmann 等，Nature 2025，doi:10.1038/s41586-024-08328-6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数据：Li、Schmidt、Alstrøm，DTU 数据存档 v1，doi:10.11583/DTU.20222331.v1，CC BY 4.0；原始数据库 RRUFF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现场演示：折外预测、参考库与数据泄漏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150876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73351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① 全量页：石英（Quartz）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默认的 514 nm 谱被判成方钠石；同一标本另两条谱判对，投票结果为石英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297180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36392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② 选择 Abelsonite（卟啉镍石）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只有一个标本：只在参考库中，没有验证预测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43484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99431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③ 模拟页：切换两种划分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逐谱随机划分时，第 1 折两侧共享 44 个标本；按标本分组后为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19088"/>
            <a:ext cx="10003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全量实测数据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6536" y="641908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63040"/>
            <a:ext cx="108813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约七成</a:t>
            </a:r>
          </a:p>
          <a:p>
            <a:pPr algn="l">
              <a:spcAft>
                <a:spcPts val="1000"/>
              </a:spcAft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类别扩大到 1,669 类后，按标本留出的最好正确率约 71%</a:t>
            </a:r>
          </a:p>
          <a:p>
            <a:pPr algn="l">
              <a:spcAft>
                <a:spcPts val="1000"/>
              </a:spcAft>
            </a:pPr>
            <a:r>
              <a:rPr sz="10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简单方法够用</a:t>
            </a:r>
          </a:p>
          <a:p>
            <a:pPr algn="l">
              <a:spcAft>
                <a:spcPts val="1000"/>
              </a:spcAft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余弦近邻与 SVM 相当；错误多在同族、固溶体矿物之间</a:t>
            </a:r>
          </a:p>
          <a:p>
            <a:pPr algn="l">
              <a:spcAft>
                <a:spcPts val="1000"/>
              </a:spcAft>
            </a:pPr>
            <a:r>
              <a:rPr sz="10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数据是瓶颈</a:t>
            </a:r>
          </a:p>
          <a:p>
            <a:pPr algn="l">
              <a:spcAft>
                <a:spcPts val="1000"/>
              </a:spcAft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每种矿物的独立标本越多越准，比换模型更有效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" y="516636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F1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下一步：为同一矿物收集更多独立标本；用其他实验室、其他仪器的光谱做外部检验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2026-10-26T10:00:10.7880000Z</dcterms:created>
  <dcterms:modified xsi:type="dcterms:W3CDTF">2026-10-26T10:00:10.7880000Z</dcterms:modified>
</coreProperties>
</file>